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5303520"/>
            <a:ext cx="3108960" cy="0"/>
          </a:xfrm>
          <a:prstGeom prst="line">
            <a:avLst/>
          </a:prstGeom>
          <a:ln w="2540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48640" y="5394960"/>
            <a:ext cx="1737360" cy="0"/>
          </a:xfrm>
          <a:prstGeom prst="line">
            <a:avLst/>
          </a:prstGeom>
          <a:ln w="9525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 a:ea="Microsoft YaHei">
                <a:solidFill>
                  <a:srgbClr val="F0EDE8"/>
                </a:solidFill>
                <a:latin typeface="Arial"/>
              </a:rPr>
              <a:t>LinkingChat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a:ea="Microsoft YaHei">
                <a:solidFill>
                  <a:srgbClr val="8A9AB5"/>
                </a:solidFill>
                <a:latin typeface="Arial"/>
              </a:rPr>
              <a:t>AI-Native Social × Remote Control — 产品概览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4A5A75"/>
                </a:solidFill>
                <a:latin typeface="Arial"/>
              </a:rPr>
              <a:t>Ghost Mate  | 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" y="27432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" y="27432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58600" y="27432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0" y="27432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635508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" y="658368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658600" y="658368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200" y="635508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01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行业现状 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80"/>
              </a:spcAft>
            </a:pPr>
            <a:r>
              <a:rPr sz="1600" b="1" i="0" a:ea="Microsoft YaHei">
                <a:solidFill>
                  <a:srgbClr val="F0EDE8"/>
                </a:solidFill>
                <a:latin typeface="Arial"/>
              </a:rPr>
              <a:t>远程办公已成新常态</a:t>
            </a:r>
          </a:p>
          <a:p>
            <a:pPr algn="l">
              <a:spcAft>
                <a:spcPts val="590"/>
              </a:spcAft>
            </a:pPr>
            <a:r>
              <a:rPr sz="1300" b="0" i="0" a:ea="Microsoft YaHei">
                <a:solidFill>
                  <a:srgbClr val="8A9AB5"/>
                </a:solidFill>
                <a:latin typeface="Arial"/>
              </a:rPr>
              <a:t>但工具链严重碎片化：聊天、远程桌面、任务管理、AI 助手各自为政。</a:t>
            </a:r>
          </a:p>
          <a:p>
            <a:pPr algn="l">
              <a:spcAft>
                <a:spcPts val="440"/>
              </a:spcAft>
            </a:pPr>
            <a:r>
              <a:rPr sz="8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680"/>
              </a:spcAft>
            </a:pPr>
            <a:r>
              <a:rPr sz="1600" b="1" i="0" a:ea="Microsoft YaHei">
                <a:solidFill>
                  <a:srgbClr val="F0EDE8"/>
                </a:solidFill>
                <a:latin typeface="Arial"/>
              </a:rPr>
              <a:t>效率瓶颈</a:t>
            </a:r>
          </a:p>
          <a:p>
            <a:pPr algn="l">
              <a:spcAft>
                <a:spcPts val="590"/>
              </a:spcAft>
            </a:pPr>
            <a:r>
              <a:rPr sz="1300" b="0" i="0" a:ea="Microsoft YaHei">
                <a:solidFill>
                  <a:srgbClr val="8A9AB5"/>
                </a:solidFill>
                <a:latin typeface="Arial"/>
              </a:rPr>
              <a:t>73% 的远程团队每天在 4+ 个工具之间切换，
平均每次上下文切换损失 23 分钟专注时间。</a:t>
            </a:r>
          </a:p>
          <a:p>
            <a:pPr algn="l">
              <a:spcAft>
                <a:spcPts val="440"/>
              </a:spcAft>
            </a:pPr>
            <a:r>
              <a:rPr sz="8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680"/>
              </a:spcAft>
            </a:pPr>
            <a:r>
              <a:rPr sz="1600" b="1" i="0" a:ea="Microsoft YaHei">
                <a:solidFill>
                  <a:srgbClr val="F0EDE8"/>
                </a:solidFill>
                <a:latin typeface="Arial"/>
              </a:rPr>
              <a:t>AI 浪潮下的机会</a:t>
            </a:r>
          </a:p>
          <a:p>
            <a:pPr algn="l">
              <a:spcAft>
                <a:spcPts val="590"/>
              </a:spcAft>
            </a:pPr>
            <a:r>
              <a:rPr sz="1300" b="0" i="0" a:ea="Microsoft YaHei">
                <a:solidFill>
                  <a:srgbClr val="8A9AB5"/>
                </a:solidFill>
                <a:latin typeface="Arial"/>
              </a:rPr>
              <a:t>大模型能力爆发，但缺乏真正的「执行层」——
AI 能聊天，却不能帮你干活。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828800"/>
            <a:ext cx="4754880" cy="4114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583680" y="1828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0" y="18288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201400" y="18288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338560" y="18288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58064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83680" y="59436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01400" y="59436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338560" y="58064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0" y="219456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20"/>
              </a:spcAft>
            </a:pPr>
            <a:r>
              <a:rPr sz="1400" b="1" i="0" a:ea="Microsoft YaHei">
                <a:solidFill>
                  <a:srgbClr val="4A5A75"/>
                </a:solidFill>
                <a:latin typeface="Arial"/>
              </a:rPr>
              <a:t>现状痛点速览</a:t>
            </a:r>
          </a:p>
          <a:p>
            <a:pPr algn="l">
              <a:spcAft>
                <a:spcPts val="380"/>
              </a:spcAft>
            </a:pPr>
            <a:r>
              <a:rPr sz="600" b="0" i="0" a:ea="Microsoft YaHei">
                <a:solidFill>
                  <a:srgbClr val="0C1321"/>
                </a:solidFill>
                <a:latin typeface="Arial"/>
              </a:rPr>
              <a:t/>
            </a:r>
          </a:p>
          <a:p>
            <a:pPr algn="l">
              <a:spcAft>
                <a:spcPts val="560"/>
              </a:spcAft>
            </a:pPr>
            <a:r>
              <a:rPr sz="1200" b="0" i="0" a:ea="Microsoft YaHei">
                <a:solidFill>
                  <a:srgbClr val="8A9AB5"/>
                </a:solidFill>
                <a:latin typeface="Arial"/>
              </a:rPr>
              <a:t>◇  社交 + 办公工具割裂</a:t>
            </a:r>
          </a:p>
          <a:p>
            <a:pPr algn="l">
              <a:spcAft>
                <a:spcPts val="560"/>
              </a:spcAft>
            </a:pPr>
            <a:r>
              <a:rPr sz="1200" b="0" i="0" a:ea="Microsoft YaHei">
                <a:solidFill>
                  <a:srgbClr val="8A9AB5"/>
                </a:solidFill>
                <a:latin typeface="Arial"/>
              </a:rPr>
              <a:t>◇  AI 只能「建议」不能「执行」</a:t>
            </a:r>
          </a:p>
          <a:p>
            <a:pPr algn="l">
              <a:spcAft>
                <a:spcPts val="560"/>
              </a:spcAft>
            </a:pPr>
            <a:r>
              <a:rPr sz="1200" b="0" i="0" a:ea="Microsoft YaHei">
                <a:solidFill>
                  <a:srgbClr val="8A9AB5"/>
                </a:solidFill>
                <a:latin typeface="Arial"/>
              </a:rPr>
              <a:t>◇  远程控制缺乏安全审批机制</a:t>
            </a:r>
          </a:p>
          <a:p>
            <a:pPr algn="l">
              <a:spcAft>
                <a:spcPts val="560"/>
              </a:spcAft>
            </a:pPr>
            <a:r>
              <a:rPr sz="1200" b="0" i="0" a:ea="Microsoft YaHei">
                <a:solidFill>
                  <a:srgbClr val="8A9AB5"/>
                </a:solidFill>
                <a:latin typeface="Arial"/>
              </a:rPr>
              <a:t>◇  跨设备协作体验差</a:t>
            </a:r>
          </a:p>
          <a:p>
            <a:pPr algn="l">
              <a:spcAft>
                <a:spcPts val="560"/>
              </a:spcAft>
            </a:pPr>
            <a:r>
              <a:rPr sz="1200" b="0" i="0" a:ea="Microsoft YaHei">
                <a:solidFill>
                  <a:srgbClr val="8A9AB5"/>
                </a:solidFill>
                <a:latin typeface="Arial"/>
              </a:rPr>
              <a:t>◇  团队沟通与任务执行脱节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02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CC142E"/>
                </a:solidFill>
                <a:latin typeface="Arial"/>
              </a:rPr>
              <a:t>核心痛点  The Pain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3383280" cy="34747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4864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59" y="219456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566927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94759" y="5669279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31920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8952" y="2496312"/>
            <a:ext cx="219456" cy="219456"/>
          </a:xfrm>
          <a:prstGeom prst="ellipse">
            <a:avLst/>
          </a:prstGeom>
          <a:noFill/>
          <a:ln w="12700">
            <a:solidFill>
              <a:srgbClr val="CC142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a:ea="Microsoft YaHei">
                <a:solidFill>
                  <a:srgbClr val="CC142E"/>
                </a:solidFill>
                <a:latin typeface="Arial"/>
              </a:rPr>
              <a:t>工具碎片化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0175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8A9AB5"/>
                </a:solidFill>
                <a:latin typeface="Arial"/>
              </a:rPr>
              <a:t>聊天用微信 / Slack，远程用 TeamViewer，
AI 用 ChatGPT——来回切换，上下文断裂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2194560"/>
            <a:ext cx="3383280" cy="34747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297679" y="219456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79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43799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59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97679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97679" y="5669279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43799" y="566927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80959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507991" y="2496312"/>
            <a:ext cx="219456" cy="219456"/>
          </a:xfrm>
          <a:prstGeom prst="ellipse">
            <a:avLst/>
          </a:prstGeom>
          <a:noFill/>
          <a:ln w="12700">
            <a:solidFill>
              <a:srgbClr val="CC142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19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a:ea="Microsoft YaHei">
                <a:solidFill>
                  <a:srgbClr val="CC142E"/>
                </a:solidFill>
                <a:latin typeface="Arial"/>
              </a:rPr>
              <a:t>AI 只说不做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30175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8A9AB5"/>
                </a:solidFill>
                <a:latin typeface="Arial"/>
              </a:rPr>
              <a:t>现有 AI 助手只能给建议，
无法真正帮用户执行任务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19" y="2194560"/>
            <a:ext cx="3383280" cy="34747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046719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46719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29284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43000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46719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46719" y="566927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292840" y="566927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430000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257031" y="2496312"/>
            <a:ext cx="219456" cy="219456"/>
          </a:xfrm>
          <a:prstGeom prst="ellipse">
            <a:avLst/>
          </a:prstGeom>
          <a:noFill/>
          <a:ln w="12700">
            <a:solidFill>
              <a:srgbClr val="CC142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59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a:ea="Microsoft YaHei">
                <a:solidFill>
                  <a:srgbClr val="CC142E"/>
                </a:solidFill>
                <a:latin typeface="Arial"/>
              </a:rPr>
              <a:t>远程操作无安全审批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0175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8A9AB5"/>
                </a:solidFill>
                <a:latin typeface="Arial"/>
              </a:rPr>
              <a:t>直接远程控制=完全信任，
缺乏「草稿-&gt;确认-&gt;执行」机制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03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2743200"/>
            <a:ext cx="1106424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3017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a:ea="Microsoft YaHei">
                <a:solidFill>
                  <a:srgbClr val="F37021"/>
                </a:solidFill>
                <a:latin typeface="Arial"/>
              </a:rPr>
              <a:t>聊天即指挥中心
社交即生产力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a:ea="Microsoft YaHei">
                <a:solidFill>
                  <a:srgbClr val="8A9AB5"/>
                </a:solidFill>
                <a:latin typeface="Arial"/>
              </a:rPr>
              <a:t>LinkingChat = 即时通讯 × AI Agent × 远程执行
一个对话窗口，完成从沟通到执行的全链路闭环。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486400"/>
            <a:ext cx="11064240" cy="0"/>
          </a:xfrm>
          <a:prstGeom prst="line">
            <a:avLst/>
          </a:prstGeom>
          <a:ln w="6350">
            <a:solidFill>
              <a:srgbClr val="4A5A7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04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37021"/>
                </a:solidFill>
                <a:latin typeface="Arial"/>
              </a:rPr>
              <a:t>核心能力  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383280" cy="4114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48640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94759" y="201168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59893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61264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94759" y="612648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31920" y="59893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1520" y="2286000"/>
            <a:ext cx="3017520" cy="109728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31520" y="22860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" y="2286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11879" y="22860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49039" y="2286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" y="32461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" y="33832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11879" y="33832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49039" y="32461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39112" y="2496312"/>
            <a:ext cx="402336" cy="402336"/>
          </a:xfrm>
          <a:prstGeom prst="ellipse">
            <a:avLst/>
          </a:prstGeom>
          <a:noFill/>
          <a:ln w="12700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83464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a:ea="Microsoft YaHei">
                <a:solidFill>
                  <a:srgbClr val="F0EDE8"/>
                </a:solidFill>
                <a:latin typeface="Arial"/>
              </a:rPr>
              <a:t>Draft &amp;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154680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a:ea="Microsoft YaHei">
                <a:solidFill>
                  <a:srgbClr val="8A9AB5"/>
                </a:solidFill>
                <a:latin typeface="Arial"/>
              </a:rPr>
              <a:t>代理草稿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6576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8A9AB5"/>
                </a:solidFill>
                <a:latin typeface="Arial"/>
              </a:rPr>
              <a:t>用户说意图 → AI 生成草稿
→ 用户确认 → 才执行
Bot 永远不自主行动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2011680"/>
            <a:ext cx="3383280" cy="4114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297679" y="201168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297679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543799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59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97679" y="59893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297679" y="612648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43799" y="61264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59" y="59893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480559" y="2286000"/>
            <a:ext cx="3017520" cy="109728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480559" y="228600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480559" y="2286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360919" y="22860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98079" y="2286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80559" y="32461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480559" y="338328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360919" y="33832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98079" y="32461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788151" y="2496312"/>
            <a:ext cx="402336" cy="402336"/>
          </a:xfrm>
          <a:prstGeom prst="rect">
            <a:avLst/>
          </a:prstGeom>
          <a:noFill/>
          <a:ln w="12700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1999" y="283464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a:ea="Microsoft YaHei">
                <a:solidFill>
                  <a:srgbClr val="F0EDE8"/>
                </a:solidFill>
                <a:latin typeface="Arial"/>
              </a:rPr>
              <a:t>The Whisper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1999" y="3154680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a:ea="Microsoft YaHei">
                <a:solidFill>
                  <a:srgbClr val="8A9AB5"/>
                </a:solidFill>
                <a:latin typeface="Arial"/>
              </a:rPr>
              <a:t>耳语建议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1999" y="36576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8A9AB5"/>
                </a:solidFill>
                <a:latin typeface="Arial"/>
              </a:rPr>
              <a:t>用户 @ai 触发 → 云端生成
1 条最佳回复（预填输入框）
+ 2 条备选方案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19" y="2011680"/>
            <a:ext cx="3383280" cy="4114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8046719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046719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292840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43000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046719" y="59893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046719" y="61264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292840" y="61264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430000" y="59893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8229599" y="2286000"/>
            <a:ext cx="3017520" cy="109728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8229599" y="22860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229599" y="2286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109959" y="22860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1247119" y="22860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229599" y="32461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229599" y="33832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109959" y="33832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247119" y="32461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9555480" y="2514600"/>
            <a:ext cx="365760" cy="256032"/>
          </a:xfrm>
          <a:prstGeom prst="rect">
            <a:avLst/>
          </a:prstGeom>
          <a:noFill/>
          <a:ln w="9525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77425" y="2587752"/>
            <a:ext cx="365760" cy="256032"/>
          </a:xfrm>
          <a:prstGeom prst="rect">
            <a:avLst/>
          </a:prstGeom>
          <a:noFill/>
          <a:ln w="9525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99371" y="2660904"/>
            <a:ext cx="365760" cy="256032"/>
          </a:xfrm>
          <a:prstGeom prst="rect">
            <a:avLst/>
          </a:prstGeom>
          <a:noFill/>
          <a:ln w="9525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21039" y="283464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a:ea="Microsoft YaHei">
                <a:solidFill>
                  <a:srgbClr val="F0EDE8"/>
                </a:solidFill>
                <a:latin typeface="Arial"/>
              </a:rPr>
              <a:t>Predictive Actions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39" y="3154680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a:ea="Microsoft YaHei">
                <a:solidFill>
                  <a:srgbClr val="8A9AB5"/>
                </a:solidFill>
                <a:latin typeface="Arial"/>
              </a:rPr>
              <a:t>预测执行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21040" y="36576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8A9AB5"/>
                </a:solidFill>
                <a:latin typeface="Arial"/>
              </a:rPr>
              <a:t>Bot 分析上下文 → 生成操作卡片
危险命令自动拦截
如：检测到编译错误 → 建议修复命令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05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用户价值  User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5120640" cy="4114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48640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32119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69279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59893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61264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32119" y="61264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79" y="59893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a:ea="Microsoft YaHei">
                <a:solidFill>
                  <a:srgbClr val="CC142E"/>
                </a:solidFill>
                <a:latin typeface="Arial"/>
              </a:rPr>
              <a:t>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8A9AB5"/>
                </a:solidFill>
                <a:latin typeface="Arial"/>
              </a:rPr>
              <a:t>◇  4+ 个工具来回切换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8A9AB5"/>
                </a:solidFill>
                <a:latin typeface="Arial"/>
              </a:rPr>
              <a:t>◇  AI 给建议，自己手动执行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8A9AB5"/>
                </a:solidFill>
                <a:latin typeface="Arial"/>
              </a:rPr>
              <a:t>◇  远程桌面=全权限，无审批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8A9AB5"/>
                </a:solidFill>
                <a:latin typeface="Arial"/>
              </a:rPr>
              <a:t>◇  聊天和任务执行完全脱节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8A9AB5"/>
                </a:solidFill>
                <a:latin typeface="Arial"/>
              </a:rPr>
              <a:t>◇  上下文频繁丢失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011680"/>
            <a:ext cx="5120640" cy="41148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00800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080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384280" y="20116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521440" y="201168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00800" y="59893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00800" y="61264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384280" y="612648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521440" y="598932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751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a:ea="Microsoft YaHei">
                <a:solidFill>
                  <a:srgbClr val="F37021"/>
                </a:solidFill>
                <a:latin typeface="Arial"/>
              </a:rPr>
              <a:t>AFTER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F0EDE8"/>
                </a:solidFill>
                <a:latin typeface="Arial"/>
              </a:rPr>
              <a:t>◆  一个对话窗口，聊天 + 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F0EDE8"/>
                </a:solidFill>
                <a:latin typeface="Arial"/>
              </a:rPr>
              <a:t>◆  AI 生成草稿，确认即执行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7490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F0EDE8"/>
                </a:solidFill>
                <a:latin typeface="Arial"/>
              </a:rPr>
              <a:t>◆  Draft &amp; Verify 安全审批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F0EDE8"/>
                </a:solidFill>
                <a:latin typeface="Arial"/>
              </a:rPr>
              <a:t>◆  从沟通到交付，零切换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F0EDE8"/>
                </a:solidFill>
                <a:latin typeface="Arial"/>
              </a:rPr>
              <a:t>◆  全链路上下文自动保持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760720" y="4069080"/>
            <a:ext cx="502920" cy="0"/>
          </a:xfrm>
          <a:prstGeom prst="line">
            <a:avLst/>
          </a:prstGeom>
          <a:ln w="12700">
            <a:solidFill>
              <a:srgbClr val="F3702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6254496" y="4032504"/>
            <a:ext cx="109728" cy="73152"/>
          </a:xfrm>
          <a:prstGeom prst="triangle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06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产品架构  Cloud Brain + Local Hands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3291840" cy="34747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4864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0332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566927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566927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40480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965960" y="2423160"/>
            <a:ext cx="457200" cy="457200"/>
          </a:xfrm>
          <a:prstGeom prst="ellipse">
            <a:avLst/>
          </a:prstGeom>
          <a:noFill/>
          <a:ln w="12700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a:ea="Microsoft YaHei">
                <a:solidFill>
                  <a:srgbClr val="F0EDE8"/>
                </a:solidFill>
                <a:latin typeface="Arial"/>
              </a:rPr>
              <a:t>Flutter 移动端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8A9AB5"/>
                </a:solidFill>
                <a:latin typeface="Arial"/>
              </a:rPr>
              <a:t>社交界面
发送指令
确认草稿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194560"/>
            <a:ext cx="3291840" cy="34747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20624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0624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60919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98079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06240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06240" y="566927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60919" y="566927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98079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623559" y="2423160"/>
            <a:ext cx="457200" cy="457200"/>
          </a:xfrm>
          <a:prstGeom prst="ellipse">
            <a:avLst/>
          </a:prstGeom>
          <a:noFill/>
          <a:ln w="12700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017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a:ea="Microsoft YaHei">
                <a:solidFill>
                  <a:srgbClr val="F0EDE8"/>
                </a:solidFill>
                <a:latin typeface="Arial"/>
              </a:rPr>
              <a:t>Cloud Brain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4290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8A9AB5"/>
                </a:solidFill>
                <a:latin typeface="Arial"/>
              </a:rPr>
              <a:t>NestJS 云服务
WebSocket 网关
意图规划 / LLM 路由
Agent 逻辑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194560"/>
            <a:ext cx="3291840" cy="34747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804672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4672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201400" y="219456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338560" y="219456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46720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46720" y="566927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201400" y="5669279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338560" y="5532119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464040" y="2423160"/>
            <a:ext cx="457200" cy="457200"/>
          </a:xfrm>
          <a:prstGeom prst="ellipse">
            <a:avLst/>
          </a:prstGeom>
          <a:noFill/>
          <a:ln w="12700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017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a:ea="Microsoft YaHei">
                <a:solidFill>
                  <a:srgbClr val="F0EDE8"/>
                </a:solidFill>
                <a:latin typeface="Arial"/>
              </a:rPr>
              <a:t>Electron 桌面端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4290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a:ea="Microsoft YaHei">
                <a:solidFill>
                  <a:srgbClr val="8A9AB5"/>
                </a:solidFill>
                <a:latin typeface="Arial"/>
              </a:rPr>
              <a:t>社交 UI（类 Discord）
OpenClaw Worker
Shell / 文件 / 自动化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931920" y="3931920"/>
            <a:ext cx="182880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4105656" y="389534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7589520" y="3931920"/>
            <a:ext cx="365759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7946136" y="389534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a:ea="Microsoft YaHei">
                <a:solidFill>
                  <a:srgbClr val="4A5A75"/>
                </a:solidFill>
                <a:latin typeface="Arial"/>
              </a:rPr>
              <a:t>WSS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a:ea="Microsoft YaHei">
                <a:solidFill>
                  <a:srgbClr val="4A5A75"/>
                </a:solidFill>
                <a:latin typeface="Arial"/>
              </a:rPr>
              <a:t>WSS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07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首个里程碑  First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a:ea="Microsoft YaHei">
                <a:solidFill>
                  <a:srgbClr val="F37021"/>
                </a:solidFill>
                <a:latin typeface="Arial"/>
              </a:rPr>
              <a:t>手机发送一个干活指令 → 电脑直接干活 → 将结果发回手机端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2377440" cy="22860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31520" y="3200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" y="3200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971800" y="3200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08960" y="3200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" y="53492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7180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08960" y="53492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337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a:ea="Microsoft YaHei">
                <a:solidFill>
                  <a:srgbClr val="F37021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a:ea="Microsoft YaHei">
                <a:solidFill>
                  <a:srgbClr val="F0EDE8"/>
                </a:solidFill>
                <a:latin typeface="Arial"/>
              </a:rPr>
              <a:t>Mobile 发送
工作指令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54680" y="4343400"/>
            <a:ext cx="320040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3465576" y="430682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3200400"/>
            <a:ext cx="2377440" cy="22860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566160" y="3200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66160" y="3200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06440" y="3200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3600" y="3200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66160" y="53492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6616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0644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43600" y="53492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657600" y="3337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a:ea="Microsoft YaHei">
                <a:solidFill>
                  <a:srgbClr val="4A5A75"/>
                </a:solidFill>
                <a:latin typeface="Arial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a:ea="Microsoft YaHei">
                <a:solidFill>
                  <a:srgbClr val="F0EDE8"/>
                </a:solidFill>
                <a:latin typeface="Arial"/>
              </a:rPr>
              <a:t>Cloud Brain
解析意图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89320" y="4343400"/>
            <a:ext cx="320040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6300216" y="430682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200400"/>
            <a:ext cx="2377440" cy="22860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400800" y="3200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00800" y="3200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41080" y="3200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778240" y="3200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00800" y="53492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64108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78240" y="53492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92240" y="3337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a:ea="Microsoft YaHei">
                <a:solidFill>
                  <a:srgbClr val="4A5A75"/>
                </a:solidFill>
                <a:latin typeface="Arial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a:ea="Microsoft YaHei">
                <a:solidFill>
                  <a:srgbClr val="F0EDE8"/>
                </a:solidFill>
                <a:latin typeface="Arial"/>
              </a:rPr>
              <a:t>Desktop
执行任务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823960" y="4343400"/>
            <a:ext cx="320040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9134856" y="4306824"/>
            <a:ext cx="109728" cy="73152"/>
          </a:xfrm>
          <a:prstGeom prst="triangle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35440" y="3200400"/>
            <a:ext cx="2377440" cy="228600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235440" y="3200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235440" y="3200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475720" y="3200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612880" y="320040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235440" y="53492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23544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475720" y="548640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612880" y="5349240"/>
            <a:ext cx="0" cy="13716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326880" y="33375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a:ea="Microsoft YaHei">
                <a:solidFill>
                  <a:srgbClr val="F37021"/>
                </a:solidFill>
                <a:latin typeface="Arial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38404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a:ea="Microsoft YaHei">
                <a:solidFill>
                  <a:srgbClr val="F0EDE8"/>
                </a:solidFill>
                <a:latin typeface="Arial"/>
              </a:rPr>
              <a:t>结果回传
Mobile 确认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08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路线图  Roadmap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3657600"/>
            <a:ext cx="10698480" cy="0"/>
          </a:xfrm>
          <a:prstGeom prst="line">
            <a:avLst/>
          </a:prstGeom>
          <a:ln w="12700">
            <a:solidFill>
              <a:srgbClr val="4A5A7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32688" y="3584448"/>
            <a:ext cx="146304" cy="146304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a:ea="Microsoft YaHei">
                <a:solidFill>
                  <a:srgbClr val="F37021"/>
                </a:solidFill>
                <a:latin typeface="Arial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a:ea="Microsoft YaHei">
                <a:solidFill>
                  <a:srgbClr val="F0EDE8"/>
                </a:solidFill>
                <a:latin typeface="Arial"/>
              </a:rPr>
              <a:t>脚手架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Monorepo 搭建
CI/CD
开发环境</a:t>
            </a:r>
          </a:p>
        </p:txBody>
      </p:sp>
      <p:sp>
        <p:nvSpPr>
          <p:cNvPr id="11" name="Oval 10"/>
          <p:cNvSpPr/>
          <p:nvPr/>
        </p:nvSpPr>
        <p:spPr>
          <a:xfrm>
            <a:off x="3218688" y="3584448"/>
            <a:ext cx="146304" cy="146304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a:ea="Microsoft YaHei">
                <a:solidFill>
                  <a:srgbClr val="F37021"/>
                </a:solidFill>
                <a:latin typeface="Arial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a:ea="Microsoft YaHei">
                <a:solidFill>
                  <a:srgbClr val="F0EDE8"/>
                </a:solidFill>
                <a:latin typeface="Arial"/>
              </a:rPr>
              <a:t>最小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80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3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9319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手机→云→桌面
全链路贯通</a:t>
            </a:r>
          </a:p>
        </p:txBody>
      </p:sp>
      <p:sp>
        <p:nvSpPr>
          <p:cNvPr id="16" name="Oval 15"/>
          <p:cNvSpPr/>
          <p:nvPr/>
        </p:nvSpPr>
        <p:spPr>
          <a:xfrm>
            <a:off x="5504688" y="3584448"/>
            <a:ext cx="146304" cy="146304"/>
          </a:xfrm>
          <a:prstGeom prst="ellipse">
            <a:avLst/>
          </a:prstGeom>
          <a:solidFill>
            <a:srgbClr val="4A5A75"/>
          </a:solidFill>
          <a:ln w="12700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a:ea="Microsoft YaHei">
                <a:solidFill>
                  <a:srgbClr val="4A5A75"/>
                </a:solidFill>
                <a:latin typeface="Arial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a:ea="Microsoft YaHei">
                <a:solidFill>
                  <a:srgbClr val="F0EDE8"/>
                </a:solidFill>
                <a:latin typeface="Arial"/>
              </a:rPr>
              <a:t>社交 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80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5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9319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好友 / 群组
消息 / 已读
Bot 框架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3584448"/>
            <a:ext cx="146304" cy="146304"/>
          </a:xfrm>
          <a:prstGeom prst="ellipse">
            <a:avLst/>
          </a:prstGeom>
          <a:solidFill>
            <a:srgbClr val="4A5A75"/>
          </a:solidFill>
          <a:ln w="12700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a:ea="Microsoft YaHei">
                <a:solidFill>
                  <a:srgbClr val="4A5A75"/>
                </a:solidFill>
                <a:latin typeface="Arial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a:ea="Microsoft YaHei">
                <a:solidFill>
                  <a:srgbClr val="F0EDE8"/>
                </a:solidFill>
                <a:latin typeface="Arial"/>
              </a:rPr>
              <a:t>AI 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880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4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9319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Whisper
Draft &amp; Verify
Predictive Actions</a:t>
            </a:r>
          </a:p>
        </p:txBody>
      </p:sp>
      <p:sp>
        <p:nvSpPr>
          <p:cNvPr id="26" name="Oval 25"/>
          <p:cNvSpPr/>
          <p:nvPr/>
        </p:nvSpPr>
        <p:spPr>
          <a:xfrm>
            <a:off x="10076688" y="3584448"/>
            <a:ext cx="146304" cy="146304"/>
          </a:xfrm>
          <a:prstGeom prst="ellipse">
            <a:avLst/>
          </a:prstGeom>
          <a:solidFill>
            <a:srgbClr val="4A5A75"/>
          </a:solidFill>
          <a:ln w="12700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a:ea="Microsoft YaHei">
                <a:solidFill>
                  <a:srgbClr val="4A5A75"/>
                </a:solidFill>
                <a:latin typeface="Arial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a:ea="Microsoft YaHei">
                <a:solidFill>
                  <a:srgbClr val="F0EDE8"/>
                </a:solidFill>
                <a:latin typeface="Arial"/>
              </a:rPr>
              <a:t>Polish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880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3 weeks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9319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性能优化
安全审计
公测准备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a:ea="Microsoft YaHei">
                <a:solidFill>
                  <a:srgbClr val="4A5A75"/>
                </a:solidFill>
                <a:latin typeface="Arial"/>
              </a:rPr>
              <a:t>09 /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2743200" cy="0"/>
          </a:xfrm>
          <a:prstGeom prst="line">
            <a:avLst/>
          </a:prstGeom>
          <a:ln w="1905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a:ea="Microsoft YaHei">
                <a:solidFill>
                  <a:srgbClr val="F0EDE8"/>
                </a:solidFill>
                <a:latin typeface="Arial"/>
              </a:rPr>
              <a:t>多 Bot 架构  Multi-Bot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a:ea="Microsoft YaHei">
                <a:solidFill>
                  <a:srgbClr val="8A9AB5"/>
                </a:solidFill>
                <a:latin typeface="Arial"/>
              </a:rPr>
              <a:t>MVP 即搭建多 Bot 框架，注册自动创建 Supervisor Bot + Coding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2606040" cy="34747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5603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25603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25603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54680" y="25603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58978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" y="60350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17520" y="60350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54680" y="58978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645920" y="2770632"/>
            <a:ext cx="402336" cy="402336"/>
          </a:xfrm>
          <a:prstGeom prst="ellipse">
            <a:avLst/>
          </a:prstGeom>
          <a:noFill/>
          <a:ln w="12700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375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a:ea="Microsoft YaHei">
                <a:solidFill>
                  <a:srgbClr val="F0EDE8"/>
                </a:solidFill>
                <a:latin typeface="Arial"/>
              </a:rPr>
              <a:t>Supervisor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49039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通知聚合器
智能管家
所有 Bot 事件汇总
不可删除，始终置顶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2560320"/>
            <a:ext cx="2606040" cy="34747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429000" y="25603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29000" y="25603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97879" y="256032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35040" y="25603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29000" y="58978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29000" y="60350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97879" y="603504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35040" y="58978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526280" y="2770632"/>
            <a:ext cx="402336" cy="402336"/>
          </a:xfrm>
          <a:prstGeom prst="ellipse">
            <a:avLst/>
          </a:prstGeom>
          <a:noFill/>
          <a:ln w="12700">
            <a:solidFill>
              <a:srgbClr val="F370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3375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a:ea="Microsoft YaHei">
                <a:solidFill>
                  <a:srgbClr val="F0EDE8"/>
                </a:solidFill>
                <a:latin typeface="Arial"/>
              </a:rPr>
              <a:t>Coding 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749039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远程执行代理
代码 / Shell / 文件
OpenClaw 集成
默认置顶，可配置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2560320"/>
            <a:ext cx="2606040" cy="34747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309359" y="256032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09359" y="25603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78240" y="25603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15400" y="25603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09359" y="58978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09359" y="603504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78240" y="60350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15400" y="58978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406640" y="2770632"/>
            <a:ext cx="402336" cy="402336"/>
          </a:xfrm>
          <a:prstGeom prst="ellipse">
            <a:avLst/>
          </a:prstGeom>
          <a:noFill/>
          <a:ln w="12700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3375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a:ea="Microsoft YaHei">
                <a:solidFill>
                  <a:srgbClr val="F0EDE8"/>
                </a:solidFill>
                <a:latin typeface="Arial"/>
              </a:rPr>
              <a:t>v1.x Bot 扩展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749039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社交媒体 Bot
数据分析 Bot
按需增加类型
[待补充: 具体类型]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19" y="2560320"/>
            <a:ext cx="2606040" cy="3474720"/>
          </a:xfrm>
          <a:prstGeom prst="rect">
            <a:avLst/>
          </a:prstGeom>
          <a:solidFill>
            <a:srgbClr val="111B2B"/>
          </a:solidFill>
          <a:ln w="9525">
            <a:solidFill>
              <a:srgbClr val="4A5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9189719" y="256032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189719" y="25603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658599" y="256032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795759" y="2560320"/>
            <a:ext cx="0" cy="137159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189719" y="58978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189719" y="6035040"/>
            <a:ext cx="137161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658599" y="6035040"/>
            <a:ext cx="137160" cy="0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795759" y="5897879"/>
            <a:ext cx="0" cy="137161"/>
          </a:xfrm>
          <a:prstGeom prst="line">
            <a:avLst/>
          </a:prstGeom>
          <a:ln w="9525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0286999" y="2770632"/>
            <a:ext cx="402336" cy="402336"/>
          </a:xfrm>
          <a:prstGeom prst="ellipse">
            <a:avLst/>
          </a:prstGeom>
          <a:noFill/>
          <a:ln w="12700">
            <a:solidFill>
              <a:srgbClr val="4A5A7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33375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a:ea="Microsoft YaHei">
                <a:solidFill>
                  <a:srgbClr val="F0EDE8"/>
                </a:solidFill>
                <a:latin typeface="Arial"/>
              </a:rPr>
              <a:t>v2.0 自定义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3749039"/>
            <a:ext cx="2331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a:ea="Microsoft YaHei">
                <a:solidFill>
                  <a:srgbClr val="8A9AB5"/>
                </a:solidFill>
                <a:latin typeface="Arial"/>
              </a:rPr>
              <a:t>用户自建 Bot
开放创建能力
自定义 Agent 配置
[待补充: 开放策略]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4114800"/>
            <a:ext cx="4937760" cy="0"/>
          </a:xfrm>
          <a:prstGeom prst="line">
            <a:avLst/>
          </a:prstGeom>
          <a:ln w="25400">
            <a:solidFill>
              <a:srgbClr val="F370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 a:ea="Microsoft YaHei">
                <a:solidFill>
                  <a:srgbClr val="F37021"/>
                </a:solidFill>
                <a:latin typeface="Arial"/>
              </a:rPr>
              <a:t>Chat is the new Terminal.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a:ea="Microsoft YaHei">
                <a:solidFill>
                  <a:srgbClr val="8A9AB5"/>
                </a:solidFill>
                <a:latin typeface="Arial"/>
              </a:rPr>
              <a:t>聊天即指挥中心，社交即生产力。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a:ea="Microsoft YaHei">
                <a:solidFill>
                  <a:srgbClr val="4A5A75"/>
                </a:solidFill>
                <a:latin typeface="Arial"/>
              </a:rPr>
              <a:t>LinkingChat  ·  Ghost Mate  · 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" y="27432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" y="27432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658600" y="27432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87200" y="27432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" y="635508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" y="658368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658600" y="6583680"/>
            <a:ext cx="228600" cy="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0" y="6355080"/>
            <a:ext cx="0" cy="228600"/>
          </a:xfrm>
          <a:prstGeom prst="line">
            <a:avLst/>
          </a:prstGeom>
          <a:ln w="6350">
            <a:solidFill>
              <a:srgbClr val="4A5A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