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303520"/>
            <a:ext cx="3108960" cy="0"/>
          </a:xfrm>
          <a:prstGeom prst="line">
            <a:avLst/>
          </a:prstGeom>
          <a:ln w="2540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5394960"/>
            <a:ext cx="1737360" cy="0"/>
          </a:xfrm>
          <a:prstGeom prst="line">
            <a:avLst/>
          </a:prstGeom>
          <a:ln w="9525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a:ea="Microsoft YaHei">
                <a:solidFill>
                  <a:srgbClr val="F0EDE8"/>
                </a:solidFill>
                <a:latin typeface="Arial"/>
              </a:rPr>
              <a:t>LinkingChat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a:ea="Microsoft YaHei">
                <a:solidFill>
                  <a:srgbClr val="8A9AB5"/>
                </a:solidFill>
                <a:latin typeface="Arial"/>
              </a:rPr>
              <a:t>System Blueprints — Technical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4A5A75"/>
                </a:solidFill>
                <a:latin typeface="Arial"/>
              </a:rPr>
              <a:t>Architecture · Data Flow · Protocol · UI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4A5A75"/>
                </a:solidFill>
                <a:latin typeface="Arial"/>
              </a:rPr>
              <a:t>Ghost Mate  |  2026  |  CONFIDENTIAL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65860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65860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01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技术栈总览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011680" cy="347472"/>
          </a:xfrm>
          <a:prstGeom prst="rect">
            <a:avLst/>
          </a:prstGeom>
          <a:solidFill>
            <a:srgbClr val="162238"/>
          </a:solidFill>
          <a:ln w="635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F37021"/>
                </a:solidFill>
                <a:latin typeface="Arial"/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011680"/>
            <a:ext cx="2926080" cy="347472"/>
          </a:xfrm>
          <a:prstGeom prst="rect">
            <a:avLst/>
          </a:prstGeom>
          <a:solidFill>
            <a:srgbClr val="162238"/>
          </a:solidFill>
          <a:ln w="635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0299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F37021"/>
                </a:solidFill>
                <a:latin typeface="Arial"/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2011680"/>
            <a:ext cx="5303520" cy="347472"/>
          </a:xfrm>
          <a:prstGeom prst="rect">
            <a:avLst/>
          </a:prstGeom>
          <a:solidFill>
            <a:srgbClr val="162238"/>
          </a:solidFill>
          <a:ln w="635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2996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F37021"/>
                </a:solidFill>
                <a:latin typeface="Arial"/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359152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NestJS / TypeScript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359152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37744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模块化、团队统一语言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06624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706624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724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PostgreSQL + Prisma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706624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7249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强类型 ORM、迁移管理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723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Cache / PubSub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054096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07238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054096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07238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Presence、消息广播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01568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1985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Mobile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401568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4198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Flutter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401568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41985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iOS + Android 单代码库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49039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6732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Desktop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3749039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767327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Electron + Node.js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749039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3767327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社交 UI + OpenClaw Worker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096512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1480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Protocol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096512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41148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Socket.IO (WSS)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096512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411480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房间模型、自动重连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443984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622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Auth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443984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4622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JWT RS256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4443984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44622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非对称签名、服务端验证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91456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097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LLM Routing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4791456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48097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DeepSeek / Kimi 2.5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4791456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80974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低成本模型 + 高能力模型路由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138928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1572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Object Storage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5138928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51760" y="515721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MinIO (S3-compatible)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5138928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515721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文件上传、头像、媒体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486400"/>
            <a:ext cx="20116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5046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Monorepo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0" y="5486400"/>
            <a:ext cx="292608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0" y="550468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Turborepo + pnpm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0" y="5486400"/>
            <a:ext cx="5303520" cy="347472"/>
          </a:xfrm>
          <a:prstGeom prst="rect">
            <a:avLst/>
          </a:prstGeom>
          <a:noFill/>
          <a:ln w="317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77840" y="550468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共享类型、统一构建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02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系统架构  Architecture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8A9AB5"/>
                </a:solidFill>
                <a:latin typeface="Arial"/>
              </a:rPr>
              <a:t>Client Layer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2331720"/>
            <a:ext cx="90525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Flutter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9202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Electron Desktop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9202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Web (future)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8A9AB5"/>
                </a:solidFill>
                <a:latin typeface="Arial"/>
              </a:rPr>
              <a:t>Gateway 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3611880"/>
            <a:ext cx="90525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8640" y="320040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1868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WebSocket Gateway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20040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21868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REST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20040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321868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Auth Guard (JWT)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8A9AB5"/>
                </a:solidFill>
                <a:latin typeface="Arial"/>
              </a:rPr>
              <a:t>Service Layer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" y="4892040"/>
            <a:ext cx="90525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864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Chat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User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39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Bot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AI / LLM Router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OpenClaw Bridge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480560"/>
            <a:ext cx="109728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4988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File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8A9AB5"/>
                </a:solidFill>
                <a:latin typeface="Arial"/>
              </a:rPr>
              <a:t>Data Layer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5760" y="5989320"/>
            <a:ext cx="90525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48640" y="55778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PostgreSQL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55778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Redis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5577840"/>
            <a:ext cx="2377440" cy="3200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Microsoft YaHei">
                <a:solidFill>
                  <a:srgbClr val="F0EDE8"/>
                </a:solidFill>
                <a:latin typeface="Arial"/>
              </a:rPr>
              <a:t>MinIO (S3)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03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用户旅程  User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168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2024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1168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用户发送
意图消息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F37021"/>
                </a:solidFill>
                <a:latin typeface="Arial"/>
              </a:rPr>
              <a:t>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3474720"/>
            <a:ext cx="182879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231136" y="34381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4048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3192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4048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3192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7744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Cloud Brain
解析意图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4A5A75"/>
                </a:solidFill>
                <a:latin typeface="Arial"/>
              </a:rPr>
              <a:t>02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77639" y="3474720"/>
            <a:ext cx="182881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4151376" y="34381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24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20624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0624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6072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5216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6072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5216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9768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AI 生成
执行草稿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4A5A75"/>
                </a:solidFill>
                <a:latin typeface="Arial"/>
              </a:rPr>
              <a:t>03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97880" y="3474720"/>
            <a:ext cx="18288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6071616" y="34381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2648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12648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2648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8096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7240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12648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12648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8096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7240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用户确认
或修改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F37021"/>
                </a:solidFill>
                <a:latin typeface="Arial"/>
              </a:rPr>
              <a:t>04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818120" y="3474720"/>
            <a:ext cx="18288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7991856" y="34381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4672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804672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4672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01200" y="301752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92640" y="301752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04672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4672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1200" y="4114800"/>
            <a:ext cx="914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92640" y="4023360"/>
            <a:ext cx="0" cy="9144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13816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Desktop
执行命令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4A5A75"/>
                </a:solidFill>
                <a:latin typeface="Arial"/>
              </a:rPr>
              <a:t>05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738360" y="3474720"/>
            <a:ext cx="18288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9912096" y="34381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966960" y="3017520"/>
            <a:ext cx="1645920" cy="10972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6696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6696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521440" y="301752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612880" y="301752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96696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96696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521440" y="4114800"/>
            <a:ext cx="91440" cy="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612880" y="4023360"/>
            <a:ext cx="0" cy="91440"/>
          </a:xfrm>
          <a:prstGeom prst="line">
            <a:avLst/>
          </a:prstGeom>
          <a:ln w="63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058400" y="32004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结果回传
+ 通知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a:ea="Microsoft YaHei">
                <a:solidFill>
                  <a:srgbClr val="F37021"/>
                </a:solidFill>
                <a:latin typeface="Arial"/>
              </a:rPr>
              <a:t>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Draft &amp; Verify 模式：Bot 永远不自主执行——用户确认是必经节点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48640" y="4937760"/>
            <a:ext cx="108813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04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数据流 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4A5A75"/>
                </a:solidFill>
                <a:latin typeface="Arial"/>
              </a:rPr>
              <a:t>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40280"/>
            <a:ext cx="3200399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46888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24688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7560" y="24688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7472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" y="3246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246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7472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19" y="2715768"/>
            <a:ext cx="274320" cy="274320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2651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Mobile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4864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3756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7472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4251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37560" y="4251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1519" y="3721608"/>
            <a:ext cx="274320" cy="274320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19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Desktop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4A5A75"/>
                </a:solidFill>
                <a:latin typeface="Arial"/>
              </a:rPr>
              <a:t>PROCESS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224028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114800" y="246888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114800" y="24688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1480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03720" y="24688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4088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1480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14800" y="3246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03720" y="3246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4088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297679" y="2697480"/>
            <a:ext cx="274320" cy="274320"/>
          </a:xfrm>
          <a:prstGeom prst="rect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651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WS Gateway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47472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1480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1480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0372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4088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1480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14800" y="4251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903720" y="4251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4088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297679" y="3703320"/>
            <a:ext cx="274320" cy="274320"/>
          </a:xfrm>
          <a:prstGeom prst="rect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Chat Service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448056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114800" y="4480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14800" y="4480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03720" y="4480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040880" y="4480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114800" y="5120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114800" y="5257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903720" y="5257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040880" y="5120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4297679" y="4709160"/>
            <a:ext cx="274320" cy="274320"/>
          </a:xfrm>
          <a:prstGeom prst="rect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LLM Router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548640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11480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114800" y="5486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0372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40880" y="5486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14800" y="61264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114800" y="62636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903720" y="62636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040880" y="61264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4297679" y="5715000"/>
            <a:ext cx="274320" cy="274320"/>
          </a:xfrm>
          <a:prstGeom prst="rect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5669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OpenClaw Bridge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a:ea="Microsoft YaHei">
                <a:solidFill>
                  <a:srgbClr val="4A5A75"/>
                </a:solidFill>
                <a:latin typeface="Arial"/>
              </a:rPr>
              <a:t>SINK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229600" y="224028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229600" y="246888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8229600" y="24688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2960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18519" y="24688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155680" y="24688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22960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29600" y="3246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018519" y="324612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155680" y="31089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412480" y="2651760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467344" y="2724912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522207" y="2798064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69680" y="2651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PostgreSQL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347472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22960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22960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018519" y="347472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55680" y="34747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22960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229600" y="4251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018519" y="42519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155680" y="4114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412480" y="3657600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67344" y="3730752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522207" y="3803904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6968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Redis PubSub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29600" y="4480560"/>
            <a:ext cx="2926080" cy="77724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8229600" y="4480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229600" y="4480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18519" y="44805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155680" y="4480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229600" y="5120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229600" y="5257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1018519" y="525780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155680" y="5120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412480" y="4663440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467344" y="4736592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22207" y="4809744"/>
            <a:ext cx="256032" cy="182880"/>
          </a:xfrm>
          <a:prstGeom prst="rect">
            <a:avLst/>
          </a:prstGeom>
          <a:noFill/>
          <a:ln w="635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86968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MinIO Storage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566160" y="3200400"/>
            <a:ext cx="457200" cy="0"/>
          </a:xfrm>
          <a:prstGeom prst="line">
            <a:avLst/>
          </a:prstGeom>
          <a:ln w="12700">
            <a:solidFill>
              <a:srgbClr val="F370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4014216" y="3163824"/>
            <a:ext cx="109728" cy="73152"/>
          </a:xfrm>
          <a:prstGeom prst="triangl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7406640" y="3200400"/>
            <a:ext cx="731520" cy="0"/>
          </a:xfrm>
          <a:prstGeom prst="line">
            <a:avLst/>
          </a:prstGeom>
          <a:ln w="12700">
            <a:solidFill>
              <a:srgbClr val="F370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5400000">
            <a:off x="8129016" y="3163824"/>
            <a:ext cx="109728" cy="73152"/>
          </a:xfrm>
          <a:prstGeom prst="triangl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05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WebSocket 协议  Protocol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474720" cy="43891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86199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59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199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59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a:ea="Microsoft YaHei">
                <a:solidFill>
                  <a:srgbClr val="F37021"/>
                </a:solidFill>
                <a:latin typeface="Arial"/>
              </a:rPr>
              <a:t>/chat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社交命名空间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788920"/>
            <a:ext cx="31089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59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chat:send_message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chat:message_received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chat:typing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chat:message_updated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chat:message_deleted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011680"/>
            <a:ext cx="3474720" cy="43891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8912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26679" y="2011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26679" y="640080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a:ea="Microsoft YaHei">
                <a:solidFill>
                  <a:srgbClr val="4A5A75"/>
                </a:solidFill>
                <a:latin typeface="Arial"/>
              </a:rPr>
              <a:t>/device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设备命名空间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0" y="2788920"/>
            <a:ext cx="31089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344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device:execute_command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device:command_result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device:status_update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device:heartbeat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011680"/>
            <a:ext cx="3474720" cy="43891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22960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56716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70432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22960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960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6716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70432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a:ea="Microsoft YaHei">
                <a:solidFill>
                  <a:srgbClr val="F37021"/>
                </a:solidFill>
                <a:latin typeface="Arial"/>
              </a:rPr>
              <a:t>AI Events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AI 事件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12480" y="2788920"/>
            <a:ext cx="310896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039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ai:whisper_request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ai:whisper_response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ai:draft_created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ai:draft_confirmed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Consolas">
                <a:solidFill>
                  <a:srgbClr val="F0EDE8"/>
                </a:solidFill>
                <a:latin typeface="Consolas"/>
              </a:rPr>
              <a:t>ai:prediction_card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Consolas">
                <a:solidFill>
                  <a:srgbClr val="8A9AB5"/>
                </a:solidFill>
                <a:latin typeface="Consolas"/>
              </a:rPr>
              <a:t>Room Strategy:  u-{userId}  |  g-{groupId}  |  d-{deviceId}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06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数据库设计  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PostgreSQL + Prisma ORM  |  18 Models  |  CUID Keys  |  Soft Delete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86199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59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86199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59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Core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74320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36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381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39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UserSetting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37744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38912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912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237744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8912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8912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26679" y="420624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262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Social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26280" y="2743200"/>
            <a:ext cx="3200399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Converse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136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ConverseMember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381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Friend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39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FriendRequest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37744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22960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960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6716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0432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2960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56716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70432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667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Messaging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66760" y="274320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1248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Message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136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MessageReaction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4381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MessageRead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57200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48640" y="4572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48640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86199" y="4572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23359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86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4864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886199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023359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Bot / AI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493776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3152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Bot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330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BotConfig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632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DraftState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457200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389120" y="4572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389120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726679" y="457200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63840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38912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8912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726679" y="640080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8638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5262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Device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26280" y="4937760"/>
            <a:ext cx="3200399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Device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5330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CommandLog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572000"/>
            <a:ext cx="3474720" cy="1828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8229600" y="4572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29600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567160" y="4572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704320" y="4572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22960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2960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56716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70432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3667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System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366760" y="4937760"/>
            <a:ext cx="320040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41248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File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5330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F0EDE8"/>
                </a:solidFill>
                <a:latin typeface="Arial"/>
              </a:rPr>
              <a:t>◇  Notification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07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移动端概念  Mobile UI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WeChat / WhatsApp 风格  ·  Less is 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2194560" cy="3901440"/>
          </a:xfrm>
          <a:prstGeom prst="roundRect">
            <a:avLst/>
          </a:prstGeom>
          <a:noFill/>
          <a:ln w="1905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71600" y="2377440"/>
            <a:ext cx="137160" cy="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2377440"/>
            <a:ext cx="0" cy="13716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9000" y="2377440"/>
            <a:ext cx="137160" cy="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377440"/>
            <a:ext cx="0" cy="13716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6141720"/>
            <a:ext cx="0" cy="13716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6278880"/>
            <a:ext cx="137160" cy="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29000" y="6278880"/>
            <a:ext cx="137160" cy="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6141720"/>
            <a:ext cx="0" cy="137160"/>
          </a:xfrm>
          <a:prstGeom prst="line">
            <a:avLst/>
          </a:prstGeom>
          <a:ln w="9525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08760" y="2697480"/>
            <a:ext cx="19202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08760" y="245059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a:ea="Microsoft YaHei">
                <a:solidFill>
                  <a:srgbClr val="F0EDE8"/>
                </a:solidFill>
                <a:latin typeface="Arial"/>
              </a:rPr>
              <a:t>LinkingChat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3383280"/>
            <a:ext cx="1920240" cy="0"/>
          </a:xfrm>
          <a:prstGeom prst="line">
            <a:avLst/>
          </a:prstGeom>
          <a:ln w="317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18488" y="2990088"/>
            <a:ext cx="237744" cy="237744"/>
          </a:xfrm>
          <a:prstGeom prst="ellipse">
            <a:avLst/>
          </a:prstGeom>
          <a:noFill/>
          <a:ln w="9525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a:ea="Microsoft YaHei">
                <a:solidFill>
                  <a:srgbClr val="F0EDE8"/>
                </a:solidFill>
                <a:latin typeface="Arial"/>
              </a:rPr>
              <a:t>Supervisor 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a:ea="Microsoft YaHei">
                <a:solidFill>
                  <a:srgbClr val="8A9AB5"/>
                </a:solidFill>
                <a:latin typeface="Arial"/>
              </a:rPr>
              <a:t>3 条新通知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8760" y="3977639"/>
            <a:ext cx="1920240" cy="0"/>
          </a:xfrm>
          <a:prstGeom prst="line">
            <a:avLst/>
          </a:prstGeom>
          <a:ln w="317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618488" y="3584448"/>
            <a:ext cx="237744" cy="237744"/>
          </a:xfrm>
          <a:prstGeom prst="ellipse">
            <a:avLst/>
          </a:prstGeom>
          <a:noFill/>
          <a:ln w="9525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a:ea="Microsoft YaHei">
                <a:solidFill>
                  <a:srgbClr val="F0EDE8"/>
                </a:solidFill>
                <a:latin typeface="Arial"/>
              </a:rPr>
              <a:t>Coding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a:ea="Microsoft YaHei">
                <a:solidFill>
                  <a:srgbClr val="8A9AB5"/>
                </a:solidFill>
                <a:latin typeface="Arial"/>
              </a:rPr>
              <a:t>任务已完成 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08760" y="4572000"/>
            <a:ext cx="1920240" cy="0"/>
          </a:xfrm>
          <a:prstGeom prst="line">
            <a:avLst/>
          </a:prstGeom>
          <a:ln w="317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618488" y="4178808"/>
            <a:ext cx="237744" cy="237744"/>
          </a:xfrm>
          <a:prstGeom prst="ellipse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a:ea="Microsoft YaHei">
                <a:solidFill>
                  <a:srgbClr val="F0EDE8"/>
                </a:solidFill>
                <a:latin typeface="Arial"/>
              </a:rPr>
              <a:t>张三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a:ea="Microsoft YaHei">
                <a:solidFill>
                  <a:srgbClr val="8A9AB5"/>
                </a:solidFill>
                <a:latin typeface="Arial"/>
              </a:rPr>
              <a:t>好的，明天见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08760" y="5166360"/>
            <a:ext cx="1920240" cy="0"/>
          </a:xfrm>
          <a:prstGeom prst="line">
            <a:avLst/>
          </a:prstGeom>
          <a:ln w="317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618488" y="4773168"/>
            <a:ext cx="237744" cy="237744"/>
          </a:xfrm>
          <a:prstGeom prst="ellipse">
            <a:avLst/>
          </a:prstGeom>
          <a:noFill/>
          <a:ln w="9525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663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a:ea="Microsoft YaHei">
                <a:solidFill>
                  <a:srgbClr val="F0EDE8"/>
                </a:solidFill>
                <a:latin typeface="Arial"/>
              </a:rPr>
              <a:t>开发群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92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a:ea="Microsoft YaHei">
                <a:solidFill>
                  <a:srgbClr val="8A9AB5"/>
                </a:solidFill>
                <a:latin typeface="Arial"/>
              </a:rPr>
              <a:t>@你: PR 已合并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08760" y="5913120"/>
            <a:ext cx="192024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08760" y="595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 a:ea="Microsoft YaHei">
                <a:solidFill>
                  <a:srgbClr val="F37021"/>
                </a:solidFill>
                <a:latin typeface="Arial"/>
              </a:rPr>
              <a:t>消息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8819" y="595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 a:ea="Microsoft YaHei">
                <a:solidFill>
                  <a:srgbClr val="8A9AB5"/>
                </a:solidFill>
                <a:latin typeface="Arial"/>
              </a:rPr>
              <a:t>通讯录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95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 a:ea="Microsoft YaHei">
                <a:solidFill>
                  <a:srgbClr val="8A9AB5"/>
                </a:solidFill>
                <a:latin typeface="Arial"/>
              </a:rPr>
              <a:t>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8940" y="595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 a:ea="Microsoft YaHei">
                <a:solidFill>
                  <a:srgbClr val="8A9AB5"/>
                </a:solidFill>
                <a:latin typeface="Arial"/>
              </a:rPr>
              <a:t>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377440"/>
            <a:ext cx="640080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02920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2920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292840" y="23774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430000" y="2377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29200" y="6355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9200" y="6492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292840" y="6492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430000" y="6355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0" y="25603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</a:pPr>
            <a:r>
              <a:rPr sz="1400" b="1" i="0" a:ea="Microsoft YaHei">
                <a:solidFill>
                  <a:srgbClr val="F0EDE8"/>
                </a:solidFill>
                <a:latin typeface="Arial"/>
              </a:rPr>
              <a:t>UI 设计原则</a:t>
            </a:r>
          </a:p>
          <a:p>
            <a:pPr algn="l">
              <a:spcAft>
                <a:spcPts val="380"/>
              </a:spcAft>
            </a:pPr>
            <a:r>
              <a:rPr sz="6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0" i="0" a:ea="Microsoft YaHei">
                <a:solidFill>
                  <a:srgbClr val="8A9AB5"/>
                </a:solidFill>
                <a:latin typeface="Arial"/>
              </a:rPr>
              <a:t>01 /  Bot = 固定置顶系统联系人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4A5A75"/>
                </a:solidFill>
                <a:latin typeface="Arial"/>
              </a:rPr>
              <a:t>        类似微信「文件传输助手」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0" i="0" a:ea="Microsoft YaHei">
                <a:solidFill>
                  <a:srgbClr val="8A9AB5"/>
                </a:solidFill>
                <a:latin typeface="Arial"/>
              </a:rPr>
              <a:t>02 /  Supervisor Bot 聚合所有通知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4A5A75"/>
                </a:solidFill>
                <a:latin typeface="Arial"/>
              </a:rPr>
              <a:t>        普通聊天流 + BOT_NOTIFICATION 卡片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0" i="0" a:ea="Microsoft YaHei">
                <a:solidFill>
                  <a:srgbClr val="8A9AB5"/>
                </a:solidFill>
                <a:latin typeface="Arial"/>
              </a:rPr>
              <a:t>03 /  @ai 触发 Whisper，非自动推送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4A5A75"/>
                </a:solidFill>
                <a:latin typeface="Arial"/>
              </a:rPr>
              <a:t>        预填输入框 + ··· 展开备选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0" i="0" a:ea="Microsoft YaHei">
                <a:solidFill>
                  <a:srgbClr val="8A9AB5"/>
                </a:solidFill>
                <a:latin typeface="Arial"/>
              </a:rPr>
              <a:t>04 /  群聊中 @specificBot 直接调用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4A5A75"/>
                </a:solidFill>
                <a:latin typeface="Arial"/>
              </a:rPr>
              <a:t>        @ai = Supervisor 兜底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0" i="0" a:ea="Microsoft YaHei">
                <a:solidFill>
                  <a:srgbClr val="8A9AB5"/>
                </a:solidFill>
                <a:latin typeface="Arial"/>
              </a:rPr>
              <a:t>05 /  Draft &amp; Verify 审批卡片式交互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4A5A75"/>
                </a:solidFill>
                <a:latin typeface="Arial"/>
              </a:rPr>
              <a:t>        草稿预览 → 确认/修改/拒绝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08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OpenClaw 集成  Remote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a:ea="Microsoft YaHei">
                <a:solidFill>
                  <a:srgbClr val="8A9AB5"/>
                </a:solidFill>
                <a:latin typeface="Arial"/>
              </a:rPr>
              <a:t>OpenClaw = 开源 AI Agent Gateway（TypeScript, MIT）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286000" cy="13716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1520" y="29260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29260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80360" y="29260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29260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4160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" y="4297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80360" y="4297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17520" y="4160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Cloud Brain
NestJS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926080"/>
            <a:ext cx="22860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754880" y="2926080"/>
            <a:ext cx="2286000" cy="13716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754880" y="29260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29260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9260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40880" y="29260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4160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80" y="4297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03720" y="4297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80" y="4160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4632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OpenClaw Node
独立进程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54880" y="2926080"/>
            <a:ext cx="22860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686800" y="2560320"/>
            <a:ext cx="2560320" cy="7315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68680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80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0996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4712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86800" y="315467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86800" y="329183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109960" y="329183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47120" y="315467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8240" y="2697479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Shell Executor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86800" y="2560320"/>
            <a:ext cx="2560320" cy="0"/>
          </a:xfrm>
          <a:prstGeom prst="line">
            <a:avLst/>
          </a:prstGeom>
          <a:ln w="190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686800" y="3474720"/>
            <a:ext cx="2560320" cy="7315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68680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86800" y="34747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109960" y="34747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247120" y="34747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68680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680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0996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4712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778240" y="3611879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File I/O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686800" y="3474720"/>
            <a:ext cx="2560320" cy="0"/>
          </a:xfrm>
          <a:prstGeom prst="line">
            <a:avLst/>
          </a:prstGeom>
          <a:ln w="190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686800" y="4389120"/>
            <a:ext cx="2560320" cy="7315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686800" y="4389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86800" y="4389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09960" y="4389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247120" y="4389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686800" y="49834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686800" y="51206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109960" y="51206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47120" y="49834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778240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F0EDE8"/>
                </a:solidFill>
                <a:latin typeface="Arial"/>
              </a:rPr>
              <a:t>Browser Auto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686800" y="4389120"/>
            <a:ext cx="2560320" cy="0"/>
          </a:xfrm>
          <a:prstGeom prst="line">
            <a:avLst/>
          </a:prstGeom>
          <a:ln w="190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108960" y="3611880"/>
            <a:ext cx="1554480" cy="0"/>
          </a:xfrm>
          <a:prstGeom prst="line">
            <a:avLst/>
          </a:prstGeom>
          <a:ln w="12700">
            <a:solidFill>
              <a:srgbClr val="F370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4654296" y="3575304"/>
            <a:ext cx="109728" cy="73152"/>
          </a:xfrm>
          <a:prstGeom prst="triangl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4A5A75"/>
                </a:solidFill>
                <a:latin typeface="Arial"/>
              </a:rPr>
              <a:t>WSS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32320" y="2926080"/>
            <a:ext cx="1463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8586216" y="288950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7132320" y="3840480"/>
            <a:ext cx="1463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8586216" y="380390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7132320" y="4754880"/>
            <a:ext cx="1463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8586216" y="471830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8640" y="5029200"/>
            <a:ext cx="10789920" cy="1188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548640" y="50292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8640" y="50292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201400" y="50292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338560" y="50292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48640" y="608075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48640" y="62179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201400" y="62179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338560" y="608075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22960" y="51206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</a:pPr>
            <a:r>
              <a:rPr sz="1200" b="1" i="0" a:ea="Microsoft YaHei">
                <a:solidFill>
                  <a:srgbClr val="CC142E"/>
                </a:solidFill>
                <a:latin typeface="Arial"/>
              </a:rPr>
              <a:t>安全模型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◇  OpenClaw Node 以独立进程运行，非 NestJS 子进程  |  ◇  沙箱 + 白名单命令  |  ◇  Draft &amp; Verify 强制用户确认  |  ◇  危险命令自动拦截标记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09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认证与安全  Auth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51760"/>
            <a:ext cx="731520" cy="548640"/>
          </a:xfrm>
          <a:prstGeom prst="rect">
            <a:avLst/>
          </a:prstGeom>
          <a:solidFill>
            <a:srgbClr val="111B2B"/>
          </a:solidFill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331720"/>
            <a:ext cx="457200" cy="45720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194560"/>
            <a:ext cx="8686800" cy="9144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74320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928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3000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2971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3108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292840" y="31089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0" y="2971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a:ea="Microsoft YaHei">
                <a:solidFill>
                  <a:srgbClr val="F37021"/>
                </a:solidFill>
                <a:latin typeface="Arial"/>
              </a:rPr>
              <a:t>JWT RS256 非对称签名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服务端持有私钥签发，客户端公钥验证
支持密钥轮换，Token 7天有效 + Refresh 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291839"/>
            <a:ext cx="8686800" cy="9144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743200" y="329183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329183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92840" y="329183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430000" y="329183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292840" y="42062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40690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3383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a:ea="Microsoft YaHei">
                <a:solidFill>
                  <a:srgbClr val="F37021"/>
                </a:solidFill>
                <a:latin typeface="Arial"/>
              </a:rPr>
              <a:t>WebSocket 认证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6575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连接时 handshake 携带 JWT
Socket.IO middleware 统一拦截验证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4389120"/>
            <a:ext cx="8686800" cy="9144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743200" y="4389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43200" y="4389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92840" y="43891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30000" y="4389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516635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0" y="53035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92840" y="53035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30000" y="516635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26080" y="44805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a:ea="Microsoft YaHei">
                <a:solidFill>
                  <a:srgbClr val="F37021"/>
                </a:solidFill>
                <a:latin typeface="Arial"/>
              </a:rPr>
              <a:t>OpenClaw 安全沙箱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独立进程隔离 + 命令白名单
危险操作强制 Draft &amp; Verify 审批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486400"/>
            <a:ext cx="8686800" cy="9144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74320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43200" y="5486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29284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430000" y="5486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4320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74320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9284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3000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260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a:ea="Microsoft YaHei">
                <a:solidFill>
                  <a:srgbClr val="F37021"/>
                </a:solidFill>
                <a:latin typeface="Arial"/>
              </a:rPr>
              <a:t>数据安全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Soft delete 保留审计轨迹
JSONB 灵活扩展 + 强类型 Prisma 校验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10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性能目标  Performance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3474720" cy="27432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86199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59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49377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199" y="49377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59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59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a:ea="Microsoft YaHei">
                <a:solidFill>
                  <a:srgbClr val="F37021"/>
                </a:solidFill>
                <a:latin typeface="Arial"/>
              </a:rPr>
              <a:t>&lt; 2s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消息镜像延迟
Message Mirror 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3474720" cy="27432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38912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8912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21945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9120" y="49377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49377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6344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a:ea="Microsoft YaHei">
                <a:solidFill>
                  <a:srgbClr val="F37021"/>
                </a:solidFill>
                <a:latin typeface="Arial"/>
              </a:rPr>
              <a:t>&lt; 3s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远程执行延迟
Remote Action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194560"/>
            <a:ext cx="3474720" cy="27432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22960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6716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0432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29600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29600" y="49377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567160" y="49377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704320" y="48006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0392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a:ea="Microsoft YaHei">
                <a:solidFill>
                  <a:srgbClr val="F37021"/>
                </a:solidFill>
                <a:latin typeface="Arial"/>
              </a:rPr>
              <a:t>&lt; 2s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@ai 回复生成
Whisper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48640" y="53035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8640" y="5303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84280" y="53035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521440" y="5303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86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864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84280" y="6400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21440" y="62636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2960" y="5394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</a:pPr>
            <a:r>
              <a:rPr sz="1200" b="1" i="0" a:ea="Microsoft YaHei">
                <a:solidFill>
                  <a:srgbClr val="F0EDE8"/>
                </a:solidFill>
                <a:latin typeface="Arial"/>
              </a:rPr>
              <a:t>扩展策略</a:t>
            </a:r>
          </a:p>
          <a:p>
            <a:pPr algn="l">
              <a:spcAft>
                <a:spcPts val="500"/>
              </a:spcAft>
            </a:pPr>
            <a:r>
              <a:rPr sz="1000" b="0" i="0" a:ea="Microsoft YaHei">
                <a:solidFill>
                  <a:srgbClr val="8A9AB5"/>
                </a:solidFill>
                <a:latin typeface="Arial"/>
              </a:rPr>
              <a:t>水平扩展 (Horizontal Scaling) + Redis PubSub + Nginx LB  |  Rust 仅在数据证明热点瓶颈后考虑  |  架构解决扩展性，非语言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11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项目结构  Monorepo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943600" cy="4572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55079" y="2011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922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6446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6583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55079" y="6583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6446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F37021"/>
                </a:solidFill>
                <a:latin typeface="Consolas"/>
              </a:rPr>
              <a:t>linkchat/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50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F0EDE8"/>
                </a:solidFill>
                <a:latin typeface="Consolas"/>
              </a:rPr>
              <a:t>  apps/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523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server/          NestJS 云服务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web/             Web 客户端 (React)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desktop/         Electron 桌面端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mobile/          Flutter 移动端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59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F0EDE8"/>
                </a:solidFill>
                <a:latin typeface="Consolas"/>
              </a:rPr>
              <a:t>  packages/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61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shared/          共享类型定义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62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ws-protocol/     WebSocket 协议类型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api-client/      API 客户端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  ui/              共享 UI 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68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docker/            Docker Compose 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98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prisma/            数据库 Schema + 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716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a:ea="Consolas">
                <a:solidFill>
                  <a:srgbClr val="8A9AB5"/>
                </a:solidFill>
                <a:latin typeface="Consolas"/>
              </a:rPr>
              <a:t>  turbo.json         Turborepo 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011680"/>
            <a:ext cx="4754880" cy="4572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85800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75719" y="2011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1288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0" y="6446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0" y="6583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75719" y="6583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612880" y="64465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20" y="21945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</a:pPr>
            <a:r>
              <a:rPr sz="1400" b="1" i="0" a:ea="Microsoft YaHei">
                <a:solidFill>
                  <a:srgbClr val="F0EDE8"/>
                </a:solidFill>
                <a:latin typeface="Arial"/>
              </a:rPr>
              <a:t>关键原则</a:t>
            </a:r>
          </a:p>
          <a:p>
            <a:pPr algn="l">
              <a:spcAft>
                <a:spcPts val="380"/>
              </a:spcAft>
            </a:pPr>
            <a:r>
              <a:rPr sz="6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1" i="0" a:ea="Microsoft YaHei">
                <a:solidFill>
                  <a:srgbClr val="F37021"/>
                </a:solidFill>
                <a:latin typeface="Arial"/>
              </a:rPr>
              <a:t>01 /  TypeScript Everywhere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        云 / 桌面 / Web 统一语言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1" i="0" a:ea="Microsoft YaHei">
                <a:solidFill>
                  <a:srgbClr val="F37021"/>
                </a:solidFill>
                <a:latin typeface="Arial"/>
              </a:rPr>
              <a:t>02 /  共享类型安全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        ws-protocol 包保证前后端类型一致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1" i="0" a:ea="Microsoft YaHei">
                <a:solidFill>
                  <a:srgbClr val="F37021"/>
                </a:solidFill>
                <a:latin typeface="Arial"/>
              </a:rPr>
              <a:t>03 /  Turborepo 增量构建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        缓存 + 并行，CI 速度提升 40%+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1" i="0" a:ea="Microsoft YaHei">
                <a:solidFill>
                  <a:srgbClr val="F37021"/>
                </a:solidFill>
                <a:latin typeface="Arial"/>
              </a:rPr>
              <a:t>04 /  Flutter 独立移动端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        iOS + Android 共享 95%+ 代码</a:t>
            </a:r>
          </a:p>
          <a:p>
            <a:pPr algn="l">
              <a:spcAft>
                <a:spcPts val="320"/>
              </a:spcAft>
            </a:pPr>
            <a:r>
              <a:rPr sz="4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30"/>
              </a:spcAft>
            </a:pPr>
            <a:r>
              <a:rPr sz="1100" b="1" i="0" a:ea="Microsoft YaHei">
                <a:solidFill>
                  <a:srgbClr val="F37021"/>
                </a:solidFill>
                <a:latin typeface="Arial"/>
              </a:rPr>
              <a:t>05 /  先 Monorepo，后拆分</a:t>
            </a:r>
          </a:p>
          <a:p>
            <a:pPr algn="l">
              <a:spcAft>
                <a:spcPts val="470"/>
              </a:spcAft>
            </a:pPr>
            <a:r>
              <a:rPr sz="900" b="0" i="0" a:ea="Microsoft YaHei">
                <a:solidFill>
                  <a:srgbClr val="8A9AB5"/>
                </a:solidFill>
                <a:latin typeface="Arial"/>
              </a:rPr>
              <a:t>        MVP 阶段保持简单，规模化后按需拆分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0"/>
            <a:ext cx="4937760" cy="0"/>
          </a:xfrm>
          <a:prstGeom prst="line">
            <a:avLst/>
          </a:prstGeom>
          <a:ln w="2540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a:ea="Microsoft YaHei">
                <a:solidFill>
                  <a:srgbClr val="F37021"/>
                </a:solidFill>
                <a:latin typeface="Arial"/>
              </a:rPr>
              <a:t>Cloud Brain + Local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a:ea="Microsoft YaHei">
                <a:solidFill>
                  <a:srgbClr val="8A9AB5"/>
                </a:solidFill>
                <a:latin typeface="Arial"/>
              </a:rPr>
              <a:t>TypeScript Everywhere · Socket.IO · Prisma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a:ea="Microsoft YaHei">
                <a:solidFill>
                  <a:srgbClr val="4A5A75"/>
                </a:solidFill>
                <a:latin typeface="Arial"/>
              </a:rPr>
              <a:t>Architecture designed for iteration speed, not premature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4A5A75"/>
                </a:solidFill>
                <a:latin typeface="Arial"/>
              </a:rPr>
              <a:t>LinkingChat  ·  Ghost Mate  ·  Technical Review  · 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5860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65860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