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4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37021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840480"/>
            <a:ext cx="22860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20624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A9AB5"/>
                </a:solidFill>
                <a:latin typeface="Segoe UI"/>
              </a:defRPr>
            </a:pPr>
            <a:r>
              <a:t>The Social-Native AI Operating System</a:t>
            </a:r>
            <a:br/>
            <a:r>
              <a:t>聊天即指令，好友即接口</a:t>
            </a:r>
          </a:p>
        </p:txBody>
      </p:sp>
      <p:sp>
        <p:nvSpPr>
          <p:cNvPr id="7" name="Rectangle 6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Why LinkingChat?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645920"/>
            <a:ext cx="329184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01168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Disconnected Workflow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3108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 chat about a task on your phone,</a:t>
            </a:r>
            <a:br/>
            <a:r>
              <a:t>then switch to your computer to actually do it.</a:t>
            </a:r>
            <a:br/>
            <a:r>
              <a:t>Context is lost every time.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聊天说一件事，做事又要切到电脑</a:t>
            </a:r>
            <a:br/>
            <a:r>
              <a:t>来回切换，思路断裂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645920"/>
            <a:ext cx="3291840" cy="43891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645920"/>
            <a:ext cx="329184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0" y="201168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Fear of AI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3108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 want AI to help, but you're afraid it will</a:t>
            </a:r>
            <a:br/>
            <a:r>
              <a:t>send the wrong message or delete the wrong file.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想让 AI 帮忙，又怕它说错话、删错文件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0" y="1645920"/>
            <a:ext cx="3291840" cy="43891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863840" y="1645920"/>
            <a:ext cx="329184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138160" y="201168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0" y="201168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EDE8"/>
                </a:solidFill>
                <a:latin typeface="Segoe UI"/>
              </a:defRPr>
            </a:pPr>
            <a:r>
              <a:t>Complex Setup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08960"/>
            <a:ext cx="2743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Existing AI tools require installing Python,</a:t>
            </a:r>
            <a:br/>
            <a:r>
              <a:t>configuring environments, reading documentation.</a:t>
            </a:r>
            <a:br/>
            <a:r>
              <a:t>Most people give up before starting.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75488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现有 AI 工具需要装环境、写配置</a:t>
            </a:r>
            <a:br/>
            <a:r>
              <a:t>大多数人还没开始就放弃了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A chat app where you can talk to people</a:t>
            </a:r>
            <a:br/>
            <a:r>
              <a:t>and command your computer.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926080"/>
            <a:ext cx="27432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29184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AB5"/>
                </a:solidFill>
                <a:latin typeface="Segoe UI"/>
              </a:defRPr>
            </a:pPr>
            <a:r>
              <a:t>Like Discord meets a personal AI assistant.</a:t>
            </a:r>
            <a:br/>
            <a:r>
              <a:t>Your phone becomes a remote control for your desktop,</a:t>
            </a:r>
            <a:br/>
            <a:r>
              <a:t>and your AI never acts without your permission.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37021"/>
                </a:solidFill>
                <a:latin typeface="Segoe UI"/>
              </a:defRPr>
            </a:pPr>
            <a:r>
              <a:t>&lt; 2s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Message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37021"/>
                </a:solidFill>
                <a:latin typeface="Segoe UI"/>
              </a:defRPr>
            </a:pPr>
            <a:r>
              <a:t>&lt; 3s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Task Execution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0" y="47548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37021"/>
                </a:solidFill>
                <a:latin typeface="Segoe UI"/>
              </a:defRPr>
            </a:pPr>
            <a:r>
              <a:t>&lt; 800ms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53949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AI Suggestions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914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Draft &amp; Verify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7021"/>
                </a:solidFill>
                <a:latin typeface="Segoe UI"/>
              </a:defRPr>
            </a:pPr>
            <a:r>
              <a:t>AI Never Acts Alone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743200"/>
            <a:ext cx="25603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say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"Send the Q3 report</a:t>
            </a:r>
            <a:br/>
            <a:r>
              <a:t>to Director Wang"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337560" y="4343400"/>
            <a:ext cx="18288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56616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2743200"/>
            <a:ext cx="25603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4904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4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AI prepares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4904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Finds the file on your desktop,</a:t>
            </a:r>
            <a:br/>
            <a:r>
              <a:t>drafts a polite message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72200" y="4343400"/>
            <a:ext cx="18288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0080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0" y="2743200"/>
            <a:ext cx="256032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See the draft + attachment</a:t>
            </a:r>
            <a:br/>
            <a:r>
              <a:t>in your chat input box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343400"/>
            <a:ext cx="18288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235440" y="2743200"/>
            <a:ext cx="256032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235440" y="2743200"/>
            <a:ext cx="256032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1832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1832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35661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decide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8320" y="4023360"/>
            <a:ext cx="21945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Tap Send, or edit first.</a:t>
            </a:r>
            <a:br/>
            <a:r>
              <a:t>AI never sends without you.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914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The Whisper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7021"/>
                </a:solidFill>
                <a:latin typeface="Segoe UI"/>
              </a:defRPr>
            </a:pPr>
            <a:r>
              <a:t>Smart Reply Suggestions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371600" y="2743200"/>
            <a:ext cx="5486400" cy="347472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371600" y="2743200"/>
            <a:ext cx="548640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645920" y="3108960"/>
            <a:ext cx="3200400" cy="54864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31546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0EDE8"/>
                </a:solidFill>
                <a:latin typeface="Segoe UI"/>
              </a:defRPr>
            </a:pPr>
            <a:r>
              <a:t>Friend: Dinner tonight?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645920" y="4114800"/>
            <a:ext cx="1554480" cy="411480"/>
          </a:xfrm>
          <a:prstGeom prst="rect">
            <a:avLst/>
          </a:prstGeom>
          <a:solidFill>
            <a:srgbClr val="0C1321"/>
          </a:solidFill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4592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F37021"/>
                </a:solidFill>
                <a:latin typeface="Segoe UI"/>
              </a:defRPr>
            </a:pPr>
            <a:r>
              <a:t>Sure! Where?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37560" y="4114800"/>
            <a:ext cx="1554480" cy="411480"/>
          </a:xfrm>
          <a:prstGeom prst="rect">
            <a:avLst/>
          </a:prstGeom>
          <a:solidFill>
            <a:srgbClr val="0C1321"/>
          </a:solidFill>
          <a:ln w="1905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3756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Sorry, working late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0" y="4114800"/>
            <a:ext cx="1554480" cy="411480"/>
          </a:xfrm>
          <a:prstGeom prst="rect">
            <a:avLst/>
          </a:prstGeom>
          <a:solidFill>
            <a:srgbClr val="0C1321"/>
          </a:solidFill>
          <a:ln w="19050">
            <a:solidFill>
              <a:srgbClr val="3475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0" y="4114800"/>
            <a:ext cx="1554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34759A"/>
                </a:solidFill>
                <a:latin typeface="Segoe UI"/>
              </a:defRPr>
            </a:pPr>
            <a:r>
              <a:t>How about tomorrow?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54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A9AB5"/>
                </a:solidFill>
                <a:latin typeface="Segoe UI"/>
              </a:defRPr>
            </a:pPr>
            <a:r>
              <a:t>Tap a chip to fill your input. Long-press to send directly.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2120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79EBE"/>
                </a:solidFill>
                <a:latin typeface="Segoe UI"/>
              </a:defRPr>
            </a:pPr>
            <a:r>
              <a:t>AI observes the conversation in real time.</a:t>
            </a:r>
            <a:br/>
            <a:r>
              <a:t>Suggestions appear in under 800ms.</a:t>
            </a:r>
            <a:br/>
            <a:r>
              <a:t>If it takes longer, they simply don't show.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2926080"/>
            <a:ext cx="3657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How it works</a:t>
            </a:r>
            <a:br/>
            <a:br/>
            <a:r>
              <a:t>1  Friend sends a message</a:t>
            </a:r>
            <a:br/>
            <a:br/>
            <a:r>
              <a:t>2  Cloud AI generates 3 replies</a:t>
            </a:r>
            <a:br/>
            <a:r>
              <a:t>     in under 800ms</a:t>
            </a:r>
            <a:br/>
            <a:br/>
            <a:r>
              <a:t>3  Chips appear above your</a:t>
            </a:r>
            <a:br/>
            <a:r>
              <a:t>     input box</a:t>
            </a:r>
            <a:br/>
            <a:br/>
            <a:r>
              <a:t>4  You tap, edit, or ignore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Core Experience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91440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9144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Predictive 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544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7021"/>
                </a:solidFill>
                <a:latin typeface="Segoe UI"/>
              </a:defRPr>
            </a:pPr>
            <a:r>
              <a:t>AI Anticipates Your Next 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103120"/>
            <a:ext cx="18288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Situation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Your code throws an error.</a:t>
            </a:r>
            <a:br/>
            <a:r>
              <a:t>The error log appears in chat.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246120" y="4343400"/>
            <a:ext cx="13716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42900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7432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61188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188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AI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Cloud brain reads the error,</a:t>
            </a:r>
            <a:br/>
            <a:r>
              <a:t>identifies the fix,</a:t>
            </a:r>
            <a:br/>
            <a:r>
              <a:t>generates a repair command.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126480" y="4343400"/>
            <a:ext cx="13716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30936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743200"/>
            <a:ext cx="265176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49224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9224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Action Card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A button appears:</a:t>
            </a:r>
            <a:br/>
            <a:r>
              <a:t>"Run fix command"</a:t>
            </a:r>
            <a:br/>
            <a:r>
              <a:t>Dangerous commands are</a:t>
            </a:r>
            <a:br/>
            <a:r>
              <a:t>flagged with a warning.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9006840" y="4343400"/>
            <a:ext cx="137160" cy="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9189720" y="2743200"/>
            <a:ext cx="2651760" cy="32004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189720" y="27432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372600" y="301752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72600" y="301752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5661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 Confirm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023360"/>
            <a:ext cx="2286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One tap to execute.</a:t>
            </a:r>
            <a:br/>
            <a:r>
              <a:t>Result shows in chat.</a:t>
            </a:r>
            <a:br/>
            <a:r>
              <a:t>Done.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37021"/>
                </a:solidFill>
                <a:latin typeface="Segoe UI"/>
              </a:defRPr>
            </a:pPr>
            <a:r>
              <a:t>Cloud Brain  +  Local Hands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320040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2286000"/>
            <a:ext cx="32004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Segoe UI"/>
              </a:defRPr>
            </a:pPr>
            <a:r>
              <a:t>Your Phone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759A"/>
                </a:solidFill>
                <a:latin typeface="Segoe UI"/>
              </a:defRPr>
            </a:pPr>
            <a:r>
              <a:t>The Remote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188720" y="3657600"/>
            <a:ext cx="26517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88720" y="39319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Send commands</a:t>
            </a:r>
            <a:br/>
            <a:r>
              <a:t>See results</a:t>
            </a:r>
            <a:br/>
            <a:r>
              <a:t>Confirm drafts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60520" y="4114800.0"/>
            <a:ext cx="365760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0" y="2286000"/>
            <a:ext cx="320040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2286000"/>
            <a:ext cx="3200400" cy="381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463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Segoe UI"/>
              </a:defRPr>
            </a:pPr>
            <a:r>
              <a:t>Cloud Brain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37021"/>
                </a:solidFill>
                <a:latin typeface="Segoe UI"/>
              </a:defRPr>
            </a:pPr>
            <a:r>
              <a:t>The Brain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846320" y="3657600"/>
            <a:ext cx="26517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846320" y="39319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AI processing</a:t>
            </a:r>
            <a:br/>
            <a:r>
              <a:t>Message routing</a:t>
            </a:r>
            <a:br/>
            <a:r>
              <a:t>Smart suggestions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18120" y="4114800.0"/>
            <a:ext cx="365760" cy="0.0"/>
          </a:xfrm>
          <a:prstGeom prst="line">
            <a:avLst/>
          </a:prstGeom>
          <a:ln w="25400">
            <a:solidFill>
              <a:srgbClr val="1D4E6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8229600" y="2286000"/>
            <a:ext cx="320040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29600" y="2286000"/>
            <a:ext cx="3200400" cy="38100"/>
          </a:xfrm>
          <a:prstGeom prst="rect">
            <a:avLst/>
          </a:prstGeom>
          <a:solidFill>
            <a:srgbClr val="3475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26517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0EDE8"/>
                </a:solidFill>
                <a:latin typeface="Segoe UI"/>
              </a:defRPr>
            </a:pPr>
            <a:r>
              <a:t>Your Computer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32004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4759A"/>
                </a:solidFill>
                <a:latin typeface="Segoe UI"/>
              </a:defRPr>
            </a:pPr>
            <a:r>
              <a:t>The Hand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03920" y="3657600"/>
            <a:ext cx="2651760" cy="0"/>
          </a:xfrm>
          <a:prstGeom prst="line">
            <a:avLst/>
          </a:prstGeom>
          <a:ln w="12700">
            <a:solidFill>
              <a:srgbClr val="1E2A3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8503920" y="393192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Execute tasks</a:t>
            </a:r>
            <a:br/>
            <a:r>
              <a:t>Run commands</a:t>
            </a:r>
            <a:br/>
            <a:r>
              <a:t>Manage files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solidFill>
            <a:srgbClr val="111B2B"/>
          </a:solidFill>
          <a:ln w="1270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271455" y="2286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37021"/>
                </a:solidFill>
                <a:latin typeface="Segoe UI"/>
              </a:defRPr>
            </a:pPr>
            <a:r>
              <a:t>Scheme 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0EDE8"/>
                </a:solidFill>
                <a:latin typeface="Segoe UI"/>
              </a:defRPr>
            </a:pPr>
            <a:r>
              <a:t>Security by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64592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219456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Human in the Loop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Every action requires your</a:t>
            </a:r>
            <a:br/>
            <a:r>
              <a:t>explicit confirmation.</a:t>
            </a:r>
            <a:br/>
            <a:r>
              <a:t>AI never acts autonomously.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2900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2900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11880" y="219456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1188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1188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End-to-End Encrypted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All communication between</a:t>
            </a:r>
            <a:br/>
            <a:r>
              <a:t>your devices is encrypted.</a:t>
            </a:r>
            <a:br/>
            <a:r>
              <a:t>We can't read your messages.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0936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0936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0" y="219456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Dangerous Command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Commands like "delete all files"</a:t>
            </a:r>
            <a:br/>
            <a:r>
              <a:t>are automatically flagged.</a:t>
            </a:r>
            <a:br/>
            <a:r>
              <a:t>Extra confirmation required.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89720" y="1828800"/>
            <a:ext cx="2651760" cy="3657600"/>
          </a:xfrm>
          <a:prstGeom prst="rect">
            <a:avLst/>
          </a:prstGeom>
          <a:solidFill>
            <a:srgbClr val="111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89720" y="1828800"/>
            <a:ext cx="2651760" cy="38100"/>
          </a:xfrm>
          <a:prstGeom prst="rect">
            <a:avLst/>
          </a:prstGeom>
          <a:solidFill>
            <a:srgbClr val="1D4E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372600" y="2194560"/>
            <a:ext cx="411480" cy="411480"/>
          </a:xfrm>
          <a:prstGeom prst="ellipse">
            <a:avLst/>
          </a:prstGeom>
          <a:noFill/>
          <a:ln w="19050">
            <a:solidFill>
              <a:srgbClr val="F3702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72600" y="2194560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00"/>
              </a:spcBef>
              <a:defRPr sz="1600" b="1">
                <a:solidFill>
                  <a:srgbClr val="F37021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28346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0EDE8"/>
                </a:solidFill>
                <a:latin typeface="Segoe UI"/>
              </a:defRPr>
            </a:pPr>
            <a:r>
              <a:t>Your Data, Your Device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72600" y="3383280"/>
            <a:ext cx="2286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A9AB5"/>
                </a:solidFill>
                <a:latin typeface="Segoe UI"/>
              </a:defRPr>
            </a:pPr>
            <a:r>
              <a:t>Files stay on your computer.</a:t>
            </a:r>
            <a:br/>
            <a:r>
              <a:t>The cloud routes commands,</a:t>
            </a:r>
            <a:br/>
            <a:r>
              <a:t>but never stores your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32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07200"/>
            <a:ext cx="12191695" cy="508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0EDE8"/>
                </a:solidFill>
                <a:latin typeface="Segoe UI"/>
              </a:defRPr>
            </a:pPr>
            <a:r>
              <a:t>LinkingChat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291840"/>
            <a:ext cx="2286000" cy="25400"/>
          </a:xfrm>
          <a:prstGeom prst="rect">
            <a:avLst/>
          </a:prstGeom>
          <a:solidFill>
            <a:srgbClr val="F37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37021"/>
                </a:solidFill>
                <a:latin typeface="Segoe UI"/>
              </a:defRPr>
            </a:pPr>
            <a:r>
              <a:t>Chat is your new Command 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AB5"/>
                </a:solidFill>
                <a:latin typeface="Segoe UI"/>
              </a:defRPr>
            </a:pPr>
            <a:r>
              <a:t>Scheme B  |  Hermes Orange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