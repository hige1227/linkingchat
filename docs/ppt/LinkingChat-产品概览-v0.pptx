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731520" cy="54864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微软雅黑"/>
              </a:defRPr>
            </a:pPr>
            <a:r>
              <a:t>LinkingChat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AA"/>
                </a:solidFill>
                <a:latin typeface="微软雅黑"/>
              </a:defRPr>
            </a:pPr>
            <a:r>
              <a:t>云端大脑 + 本地双手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微软雅黑"/>
              </a:defRPr>
            </a:pPr>
            <a:r>
              <a:t>聊天即指令，好友即接口  |  AI 原生社交操作系统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846320"/>
            <a:ext cx="2103120" cy="411480"/>
          </a:xfrm>
          <a:prstGeom prst="roundRect">
            <a:avLst>
              <a:gd name="adj" fmla="val 1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8B5CF6"/>
                </a:solidFill>
                <a:latin typeface="Consolas"/>
              </a:defRPr>
            </a:pPr>
            <a:r>
              <a:t>代号: Ghost 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产品与架构概览  |  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微软雅黑"/>
              </a:defRPr>
            </a:pPr>
            <a:r>
              <a:t>痛点与愿景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三个没人同时解决的问题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94560"/>
            <a:ext cx="411480" cy="41148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12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割裂的工作流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微软雅黑"/>
              </a:defRPr>
            </a:pPr>
            <a:r>
              <a:t>用户需要“一边在 IM 聊需求，一边切到 IDE/终端跑代码”。</a:t>
            </a:r>
            <a:br/>
            <a:br/>
            <a:r>
              <a:t>解决方案：</a:t>
            </a:r>
            <a:br/>
            <a:r>
              <a:t>All-in-Chat — 聊天窗口即控制台。</a:t>
            </a:r>
            <a:br/>
            <a:r>
              <a:t>输入自然语言，Bot 直接在后台执行。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3832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19456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212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AI 恐惧感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微软雅黑"/>
              </a:defRPr>
            </a:pPr>
            <a:r>
              <a:t>害怕 AI 自动回复说错话，或自动操作删错文件。</a:t>
            </a:r>
            <a:br/>
            <a:br/>
            <a:r>
              <a:t>解决方案：</a:t>
            </a:r>
            <a:br/>
            <a:r>
              <a:t>Draft &amp; Verify（草稿即正义）—</a:t>
            </a:r>
            <a:br/>
            <a:r>
              <a:t>Bot 永远只生成“草稿”，用户确认后才执行。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11680"/>
            <a:ext cx="338328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0" y="21945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212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配置门槛高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微软雅黑"/>
              </a:defRPr>
            </a:pPr>
            <a:r>
              <a:t>OpenInterpreter / OpenClaw 需要复杂的本地环境配置。</a:t>
            </a:r>
            <a:br/>
            <a:br/>
            <a:r>
              <a:t>解决方案：</a:t>
            </a:r>
            <a:br/>
            <a:r>
              <a:t>SaaS + 轻客户端 —</a:t>
            </a:r>
            <a:br/>
            <a:r>
              <a:t>桌面端只需轻量 Node 运行时，大脑和复杂逻辑全在云端。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愿景：打造一个打破“通讯”与“工具”界限的下一代 IM 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微软雅黑"/>
              </a:defRPr>
            </a:pPr>
            <a:r>
              <a:t>核心体验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“神圣三位一体”— 三大 AI 原生交互模式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37560" y="1965960"/>
            <a:ext cx="59436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✍  代理草稿 (Draft &amp; Verify)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微软雅黑"/>
              </a:defRPr>
            </a:pPr>
            <a:r>
              <a:t>场景：“把桌面的Q3财报发给王总”</a:t>
            </a:r>
            <a:br/>
            <a:br/>
            <a:r>
              <a:t>Bot 静默连接电脑读取文件，生成得体的回复文案</a:t>
            </a:r>
            <a:br/>
            <a:r>
              <a:t>+ 附件，挂载到输入框中。</a:t>
            </a:r>
            <a:br/>
            <a:br/>
            <a:r>
              <a:t>用户确认无误 → 点击 [发送]</a:t>
            </a:r>
            <a:br/>
            <a:br/>
            <a:r>
              <a:t>Bot 永远不自主行动。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5166360"/>
            <a:ext cx="2926080" cy="18288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257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用户 @Bot → Bot 生成草稿 → 用户确认 → 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95160" y="1965960"/>
            <a:ext cx="594360" cy="27432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💬  耳语建议 (The Whisper)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微软雅黑"/>
              </a:defRPr>
            </a:pPr>
            <a:r>
              <a:t>场景：收到“今晚约饭吗？”</a:t>
            </a:r>
            <a:br/>
            <a:br/>
            <a:r>
              <a:t>Bot 在输入框上方悬浮 3 个建议气泡：</a:t>
            </a:r>
            <a:br/>
            <a:r>
              <a:t>[拒绝: 加班]  [答应: 哪里?]  [迟疑: 看情况]</a:t>
            </a:r>
            <a:br/>
            <a:br/>
            <a:r>
              <a:t>点击填入，长按发送。</a:t>
            </a:r>
            <a:br/>
            <a:r>
              <a:t>延迟要求：&lt;800ms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5166360"/>
            <a:ext cx="2926080" cy="182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5257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消息到达 → LLM 生成 3 建议 → &lt;800ms 展示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52760" y="1965960"/>
            <a:ext cx="594360" cy="27432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⚡  预测执行 (Predictive Actions)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6888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微软雅黑"/>
              </a:defRPr>
            </a:pPr>
            <a:r>
              <a:t>场景：Bot 分析报错日志后</a:t>
            </a:r>
            <a:br/>
            <a:br/>
            <a:r>
              <a:t>自动生成动作卡片：</a:t>
            </a:r>
            <a:br/>
            <a:r>
              <a:t>[点击运行修复命令]</a:t>
            </a:r>
            <a:br/>
            <a:r>
              <a:t>[危险] rm -rf → 已拦截</a:t>
            </a:r>
            <a:br/>
            <a:br/>
            <a:r>
              <a:t>上下文感知的下一步预测。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5166360"/>
            <a:ext cx="292608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5257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任务完成 → Bot 预测下一步 → 用户点击执行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42"/>
                </a:solidFill>
                <a:latin typeface="微软雅黑"/>
              </a:defRPr>
            </a:pPr>
            <a: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云端大脑 + 本地双手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微软雅黑"/>
              </a:defRPr>
            </a:pPr>
            <a:r>
              <a:t>三层分布式架构：手机（遥控器）→ 云端（大脑）→ 桌面（双手）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38328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AA"/>
                </a:solidFill>
                <a:latin typeface="微软雅黑"/>
              </a:defRPr>
            </a:pPr>
            <a: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手机端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微软雅黑"/>
              </a:defRPr>
            </a:pPr>
            <a:r>
              <a:t>The Remote（遥控器）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微软雅黑"/>
              </a:defRPr>
            </a:pPr>
            <a:r>
              <a:t>Flutter / React Native Expo</a:t>
            </a:r>
            <a:br/>
            <a:br/>
            <a:r>
              <a:t>• 社交界面（聊天、好友）</a:t>
            </a:r>
            <a:br/>
            <a:r>
              <a:t>• 发送远程指令</a:t>
            </a:r>
            <a:br/>
            <a:r>
              <a:t>• 确认 AI 草稿</a:t>
            </a:r>
            <a:br/>
            <a:r>
              <a:t>• 查看执行结果</a:t>
            </a:r>
            <a:br/>
            <a:br/>
            <a:r>
              <a:t>纯 UI 层—所有逻辑在云端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3383280" cy="457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87AFF"/>
                </a:solidFill>
                <a:latin typeface="微软雅黑"/>
              </a:defRPr>
            </a:pPr>
            <a:r>
              <a:t>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88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云端大脑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54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微软雅黑"/>
              </a:defRPr>
            </a:pPr>
            <a:r>
              <a:t>The Brain（大脑）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2044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微软雅黑"/>
              </a:defRPr>
            </a:pPr>
            <a:r>
              <a:t>NestJS + Prisma + PostgreSQL</a:t>
            </a:r>
            <a:br/>
            <a:br/>
            <a:r>
              <a:t>• WebSocket 网关 (/chat + /device)</a:t>
            </a:r>
            <a:br/>
            <a:r>
              <a:t>• 意图规划器</a:t>
            </a:r>
            <a:br/>
            <a:r>
              <a:t>• LLM 路由 (DeepSeek / Kimi)</a:t>
            </a:r>
            <a:br/>
            <a:r>
              <a:t>• 草稿状态机</a:t>
            </a:r>
            <a:br/>
            <a:r>
              <a:t>• JWT RS256 认证</a:t>
            </a:r>
            <a:br/>
            <a:r>
              <a:t>• Redis Pub/Sub 扩展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0312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103120"/>
            <a:ext cx="3383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B5CF6"/>
                </a:solidFill>
                <a:latin typeface="微软雅黑"/>
              </a:defRPr>
            </a:pPr>
            <a:r>
              <a:t>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88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桌面客户端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154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微软雅黑"/>
              </a:defRPr>
            </a:pPr>
            <a:r>
              <a:t>The Hand（双手）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52044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微软雅黑"/>
              </a:defRPr>
            </a:pPr>
            <a:r>
              <a:t>Electron + TypeScript</a:t>
            </a:r>
            <a:br/>
            <a:br/>
            <a:r>
              <a:t>• 完整社交 UI（Discord 风格）</a:t>
            </a:r>
            <a:br/>
            <a:r>
              <a:t>• OpenClaw 执行器</a:t>
            </a:r>
            <a:br/>
            <a:r>
              <a:t>• Shell 命令执行</a:t>
            </a:r>
            <a:br/>
            <a:r>
              <a:t>• 文件 I/O 操作</a:t>
            </a:r>
            <a:br/>
            <a:r>
              <a:t>• 本地任务自动化</a:t>
            </a:r>
            <a:br/>
            <a:br/>
            <a:r>
              <a:t>“下载即用”—无复杂配置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931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微软雅黑"/>
              </a:defRPr>
            </a:pPr>
            <a:r>
              <a:t>← WSS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931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微软雅黑"/>
              </a:defRPr>
            </a:pPr>
            <a:r>
              <a:t>← WSS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微软雅黑"/>
              </a:defRPr>
            </a:pPr>
            <a:r>
              <a:t>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TypeScript 全栈 + 生产级工具链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36576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F"/>
                </a:solidFill>
                <a:latin typeface="微软雅黑"/>
              </a:defRPr>
            </a:pPr>
            <a:r>
              <a:t>后端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NestJS</a:t>
            </a:r>
            <a:br/>
            <a:r>
              <a:t>Prisma ORM</a:t>
            </a:r>
            <a:br/>
            <a:r>
              <a:t>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40" y="1965960"/>
            <a:ext cx="3657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微软雅黑"/>
              </a:defRPr>
            </a:pPr>
            <a:r>
              <a:t>实时通信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5146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Socket.IO</a:t>
            </a:r>
            <a:br/>
            <a:r>
              <a:t>Redis Adapter</a:t>
            </a:r>
            <a:br/>
            <a:r>
              <a:t>双命名空间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965960"/>
            <a:ext cx="3657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微软雅黑"/>
              </a:defRPr>
            </a:pPr>
            <a:r>
              <a:t>桌面端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Electron</a:t>
            </a:r>
            <a:br/>
            <a:r>
              <a:t>React + Vite</a:t>
            </a:r>
            <a:br/>
            <a:r>
              <a:t>OpenClaw Worker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0" y="1965960"/>
            <a:ext cx="36576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微软雅黑"/>
              </a:defRPr>
            </a:pPr>
            <a:r>
              <a:t>移动端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5146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Flutter / RN Expo</a:t>
            </a:r>
            <a:br/>
            <a:r>
              <a:t>Socket.IO Client</a:t>
            </a:r>
            <a:br/>
            <a:r>
              <a:t>Dio / Fetch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343400"/>
            <a:ext cx="36576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微软雅黑"/>
              </a:defRPr>
            </a:pPr>
            <a:r>
              <a:t>AI /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多提供商路由</a:t>
            </a:r>
            <a:br/>
            <a:r>
              <a:t>DeepSeek（快速/低成本）</a:t>
            </a:r>
            <a:br/>
            <a:r>
              <a:t>Kimi 2.5（复杂任务）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20624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40" y="4343400"/>
            <a:ext cx="365760" cy="36576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4480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A5A"/>
                </a:solidFill>
                <a:latin typeface="微软雅黑"/>
              </a:defRPr>
            </a:pPr>
            <a:r>
              <a:t>认证安全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48920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JWT RS256 非对称</a:t>
            </a:r>
            <a:br/>
            <a:r>
              <a:t>argon2 密码哈希</a:t>
            </a:r>
            <a:br/>
            <a:r>
              <a:t>Refresh Token 轮换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20624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4343400"/>
            <a:ext cx="3657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480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微软雅黑"/>
              </a:defRPr>
            </a:pPr>
            <a:r>
              <a:t>Monorepo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8920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Turborepo</a:t>
            </a:r>
            <a:br/>
            <a:r>
              <a:t>pnpm workspace</a:t>
            </a:r>
            <a:br/>
            <a:r>
              <a:t>4 个共享包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420624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18320" y="4343400"/>
            <a:ext cx="365760" cy="36576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4480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AEC0"/>
                </a:solidFill>
                <a:latin typeface="微软雅黑"/>
              </a:defRPr>
            </a:pPr>
            <a:r>
              <a:t>测试 / CI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8920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Vitest</a:t>
            </a:r>
            <a:br/>
            <a:r>
              <a:t>E2E 测试</a:t>
            </a:r>
            <a:br/>
            <a:r>
              <a:t>GitHub Actions CI/CD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微软雅黑"/>
              </a:defRPr>
            </a:pPr>
            <a:r>
              <a:t>数据模型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5 大领域，18 个 Prisma 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用户领域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965960"/>
            <a:ext cx="73152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 个模型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User</a:t>
            </a:r>
            <a:br/>
            <a:r>
              <a:t>FriendRequest</a:t>
            </a:r>
            <a:br/>
            <a:r>
              <a:t>Friendship</a:t>
            </a:r>
            <a:br/>
            <a:r>
              <a:t>UserBlock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3317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argon2 哈希，CUID 主键</a:t>
            </a:r>
            <a:br/>
            <a:r>
              <a:t>双向好友关系</a:t>
            </a:r>
            <a:br/>
            <a:r>
              <a:t>软删除支持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33832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群组领域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965960"/>
            <a:ext cx="731520" cy="27432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 个模型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Group</a:t>
            </a:r>
            <a:br/>
            <a:r>
              <a:t>Channel</a:t>
            </a:r>
            <a:br/>
            <a:r>
              <a:t>GroupMember</a:t>
            </a:r>
            <a:br/>
            <a:r>
              <a:t>GroupRole</a:t>
            </a:r>
            <a:br/>
            <a:r>
              <a:t>GroupBan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317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Discord 风格层级结构</a:t>
            </a:r>
            <a:br/>
            <a:r>
              <a:t>频道类型: TEXT/SECTION</a:t>
            </a:r>
            <a:br/>
            <a:r>
              <a:t>角色权限系统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3383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会话领域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1965960"/>
            <a:ext cx="731520" cy="27432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 个模型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317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Converse</a:t>
            </a:r>
            <a:br/>
            <a:r>
              <a:t>ConverseMember</a:t>
            </a:r>
            <a:br/>
            <a:r>
              <a:t>Message</a:t>
            </a:r>
            <a:br/>
            <a:r>
              <a:t>Attachment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3317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统一消息管道</a:t>
            </a:r>
            <a:br/>
            <a:r>
              <a:t>DM / 多人 / 群组三种类型</a:t>
            </a:r>
            <a:br/>
            <a:r>
              <a:t>游标分页 (35条/页)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438912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0" y="4389120"/>
            <a:ext cx="338328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设备领域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4526280"/>
            <a:ext cx="731520" cy="274320"/>
          </a:xfrm>
          <a:prstGeom prst="roundRect">
            <a:avLst>
              <a:gd name="adj" fmla="val 15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 个模型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8920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Device</a:t>
            </a:r>
            <a:br/>
            <a:r>
              <a:t>Command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892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OpenClaw 远程控制</a:t>
            </a:r>
            <a:br/>
            <a:r>
              <a:t>Shell / 文件 / 自动化</a:t>
            </a:r>
            <a:br/>
            <a:r>
              <a:t>状态: PENDING→COMPLETED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8912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389120"/>
            <a:ext cx="33832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AI 领域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4526280"/>
            <a:ext cx="731520" cy="274320"/>
          </a:xfrm>
          <a:prstGeom prst="roundRect">
            <a:avLst>
              <a:gd name="adj" fmla="val 1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 个模型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8920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AiDraft</a:t>
            </a:r>
            <a:br/>
            <a:r>
              <a:t>AiSuggestion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892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微软雅黑"/>
              </a:defRPr>
            </a:pPr>
            <a:r>
              <a:t>草稿状态机 (Draft &amp; Verify)</a:t>
            </a:r>
            <a:br/>
            <a:r>
              <a:t>Whisper + Predictive 两种类型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核心设计：统一 Converse 模型—所有消息（私聊/多人/群组频道）通过同一管道路由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微软雅黑"/>
              </a:defRPr>
            </a:pPr>
            <a:r>
              <a:t>WebSocket 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双命名空间设计 + 类型安全事件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7AFF"/>
                </a:solidFill>
                <a:latin typeface="微软雅黑"/>
              </a:defRPr>
            </a:pPr>
            <a:r>
              <a:t>/chat 命名空间 — 社交消息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客户端 → 服务端 (12 个事件)</a:t>
            </a:r>
            <a:br/>
            <a:r>
              <a:t>  converse:join / leave</a:t>
            </a:r>
            <a:br/>
            <a:r>
              <a:t>  message:typing / read</a:t>
            </a:r>
            <a:br/>
            <a:r>
              <a:t>  presence:update</a:t>
            </a:r>
            <a:br/>
            <a:r>
              <a:t>  ai:draft:approve / reject / edit</a:t>
            </a:r>
            <a:br/>
            <a:r>
              <a:t>  ai:predictive:execute / dismiss</a:t>
            </a:r>
            <a:br/>
            <a:r>
              <a:t>  ai:whisper:select</a:t>
            </a:r>
            <a:br/>
            <a:br/>
            <a:r>
              <a:t>服务端 → 客户端 (24 个事件)</a:t>
            </a:r>
            <a:br/>
            <a:r>
              <a:t>  message:new / updated / deleted</a:t>
            </a:r>
            <a:br/>
            <a:r>
              <a:t>  converse:new / updated</a:t>
            </a:r>
            <a:br/>
            <a:r>
              <a:t>  friend:request / accepted / removed</a:t>
            </a:r>
            <a:br/>
            <a:r>
              <a:t>  group:* / channel:* 事件</a:t>
            </a:r>
            <a:br/>
            <a:r>
              <a:t>  ai:whisper:suggestions</a:t>
            </a:r>
            <a:br/>
            <a:r>
              <a:t>  ai:draft:created / expired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502920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微软雅黑"/>
              </a:defRPr>
            </a:pPr>
            <a:r>
              <a:t>/device 命名空间 — 远程控制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2316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客户端 → 服务端 (6 个事件)</a:t>
            </a:r>
            <a:br/>
            <a:r>
              <a:t>  device:register (桌面端发送)</a:t>
            </a:r>
            <a:br/>
            <a:r>
              <a:t>  device:heartbeat (30s 心跳)</a:t>
            </a:r>
            <a:br/>
            <a:r>
              <a:t>  device:command:send (手机端发送)</a:t>
            </a:r>
            <a:br/>
            <a:r>
              <a:t>  device:command:cancel (手机端发送)</a:t>
            </a:r>
            <a:br/>
            <a:r>
              <a:t>  device:result:complete (桌面端发送)</a:t>
            </a:r>
            <a:br/>
            <a:r>
              <a:t>  device:result:progress (桌面端发送)</a:t>
            </a:r>
            <a:br/>
            <a:br/>
            <a:r>
              <a:t>服务端 → 客户端 (5 个事件)</a:t>
            </a:r>
            <a:br/>
            <a:r>
              <a:t>  device:command:execute  → d-{deviceId}</a:t>
            </a:r>
            <a:br/>
            <a:r>
              <a:t>  device:command:ack      → u-{userId}</a:t>
            </a:r>
            <a:br/>
            <a:r>
              <a:t>  device:result:delivered → u-{userId}</a:t>
            </a:r>
            <a:br/>
            <a:r>
              <a:t>  device:result:progress  → u-{userId}</a:t>
            </a:r>
            <a:br/>
            <a:r>
              <a:t>  device:status:changed   → u-{userId}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nsolas"/>
              </a:defRPr>
            </a:pPr>
            <a:r>
              <a:t>房间策略：  u-{userId} (个人)    {converseId} (会话)    g-{groupId} (群组)    d-{deviceId} (设备)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42"/>
                </a:solidFill>
                <a:latin typeface="微软雅黑"/>
              </a:defRPr>
            </a:pPr>
            <a:r>
              <a:t>命令执行流程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手机 → 云端 → 桌面 → 手机（全链路 &lt; 3 秒）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手机发送指令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WS: device:command:send</a:t>
            </a:r>
            <a:br/>
            <a:r>
              <a:t>{ type: 'shell',</a:t>
            </a:r>
            <a:br/>
            <a:r>
              <a:t>  action: 'ls -la'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0116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0320" y="2103120"/>
            <a:ext cx="365760" cy="36576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云端验证入库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01752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黑名单检查</a:t>
            </a:r>
            <a:br/>
            <a:r>
              <a:t>DB: INSERT commands</a:t>
            </a:r>
            <a:br/>
            <a:r>
              <a:t>status = PENDING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0116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03120"/>
            <a:ext cx="365760" cy="36576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云端转发指令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1752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WS: command:execute</a:t>
            </a:r>
            <a:br/>
            <a:r>
              <a:t>→ d-{deviceId} 房间</a:t>
            </a:r>
            <a:br/>
            <a:r>
              <a:t>ACK → 手机端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0116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0" y="210312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桌面端执行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1752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child_process.exec()</a:t>
            </a:r>
            <a:br/>
            <a:r>
              <a:t>timeout: 30s</a:t>
            </a:r>
            <a:br/>
            <a:r>
              <a:t>捕获 stdout/stderr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20116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0" y="2103120"/>
            <a:ext cx="365760" cy="3657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结果回传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01752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WS: result:complete</a:t>
            </a:r>
            <a:br/>
            <a:r>
              <a:t>DB: UPDATE commands</a:t>
            </a:r>
            <a:br/>
            <a:r>
              <a:t>status = COMPLETED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201168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7040" y="210312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手机显示结果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301752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WS: result:delivered</a:t>
            </a:r>
            <a:br/>
            <a:r>
              <a:t>UI 展示输出</a:t>
            </a:r>
            <a:br/>
            <a:r>
              <a:t>记录到 commands 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120640"/>
            <a:ext cx="11247120" cy="1188720"/>
          </a:xfrm>
          <a:prstGeom prst="roundRect">
            <a:avLst>
              <a:gd name="adj" fmla="val 3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120640"/>
            <a:ext cx="11247120" cy="36576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A5A"/>
                </a:solidFill>
                <a:latin typeface="微软雅黑"/>
              </a:defRPr>
            </a:pPr>
            <a:r>
              <a:t>⚠  安全机制：危险命令拦截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23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服务端正则黑名单：rm -rf /、format、mkfs、dd if=、shutdown、reboot、chmod 777 /</a:t>
            </a:r>
            <a:br/>
            <a:r>
              <a:t>匹配危险模式的命令在达到桌面端之前即被拒绝  |  Sprint 2+：OpenClaw 沙箱执行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微软雅黑"/>
              </a:defRPr>
            </a:pPr>
            <a:r>
              <a:t>Sprint 1 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最小全链路 PoC — 6 个阶段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A"/>
                </a:solidFill>
                <a:latin typeface="微软雅黑"/>
              </a:defRPr>
            </a:pPr>
            <a:r>
              <a:t>目标：“手机发指令 → 桌面端执行 → 结果返回手机”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38328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7AFF"/>
                </a:solidFill>
                <a:latin typeface="Consolas"/>
              </a:defRPr>
            </a:pPr>
            <a:r>
              <a:t>Phase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212848"/>
            <a:ext cx="640080" cy="22860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 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基础设施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Turborepo + pnpm 初始化</a:t>
            </a:r>
            <a:br/>
            <a:r>
              <a:t>NestJS 项目创建</a:t>
            </a:r>
            <a:br/>
            <a:r>
              <a:t>Docker Compose 配置</a:t>
            </a:r>
            <a:br/>
            <a:r>
              <a:t>Prisma Schema 定义</a:t>
            </a:r>
            <a:br/>
            <a:r>
              <a:t>共享包初始化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3383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212848"/>
            <a:ext cx="640080" cy="22860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 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共享类型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80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WS 事件类型定义</a:t>
            </a:r>
            <a:br/>
            <a:r>
              <a:t>Payload 接口定义</a:t>
            </a:r>
            <a:br/>
            <a:r>
              <a:t>事件名常量</a:t>
            </a:r>
            <a:br/>
            <a:r>
              <a:t>Zod 验证 Schema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103120"/>
            <a:ext cx="338328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7AFF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07040" y="2212848"/>
            <a:ext cx="640080" cy="22860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10 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云端大脑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80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认证模块 (JWT RS256)</a:t>
            </a:r>
            <a:br/>
            <a:r>
              <a:t>Prisma Service</a:t>
            </a:r>
            <a:br/>
            <a:r>
              <a:t>设备 + 命令模块</a:t>
            </a:r>
            <a:br/>
            <a:r>
              <a:t>Socket.IO + Redis</a:t>
            </a:r>
            <a:br/>
            <a:r>
              <a:t>Device Gateway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389120"/>
            <a:ext cx="33832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4498848"/>
            <a:ext cx="640080" cy="22860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8 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桌面客户端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66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Electron (electron-vite)</a:t>
            </a:r>
            <a:br/>
            <a:r>
              <a:t>登录 + JWT 存储</a:t>
            </a:r>
            <a:br/>
            <a:r>
              <a:t>WS 客户端 (/device)</a:t>
            </a:r>
            <a:br/>
            <a:r>
              <a:t>Shell 执行器</a:t>
            </a:r>
            <a:br/>
            <a:r>
              <a:t>最小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4389120"/>
            <a:ext cx="338328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Consolas"/>
              </a:defRPr>
            </a:pPr>
            <a:r>
              <a:t>Phase 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0" y="4498848"/>
            <a:ext cx="640080" cy="228600"/>
          </a:xfrm>
          <a:prstGeom prst="roundRect">
            <a:avLst>
              <a:gd name="adj" fmla="val 15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7 任务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800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手机端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166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Flutter / RN 初始化</a:t>
            </a:r>
            <a:br/>
            <a:r>
              <a:t>登录页面</a:t>
            </a:r>
            <a:br/>
            <a:r>
              <a:t>JWT Token 管理</a:t>
            </a:r>
            <a:br/>
            <a:r>
              <a:t>设备列表</a:t>
            </a:r>
            <a:br/>
            <a:r>
              <a:t>命令输入 + 结果显示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4389120"/>
            <a:ext cx="3383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Phase 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07040" y="4498848"/>
            <a:ext cx="640080" cy="22860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 任务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800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集成测试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166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全链路手动测试</a:t>
            </a:r>
            <a:br/>
            <a:r>
              <a:t>Bug 修复</a:t>
            </a:r>
            <a:br/>
            <a:r>
              <a:t>黑名单命令过滤</a:t>
            </a:r>
            <a:br/>
            <a:br/>
            <a:r>
              <a:t>✅ 延迟 &lt; 3 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微软雅黑"/>
              </a:defRPr>
            </a:pPr>
            <a:r>
              <a:t>里程碑与路线图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Sprint 1 → Sprint 2 → Sprint 3 → 未来展望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0352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7AFF"/>
                </a:solidFill>
                <a:latin typeface="微软雅黑"/>
              </a:defRPr>
            </a:pPr>
            <a:r>
              <a:t>Sprint 1 验收检查点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46888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50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服务端可运行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注册 → 登录 → 获取 JWT → Swagger 可访问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15468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136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WS 可连接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客户端用 JWT RS256 连接 /device 命名空间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84048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822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桌面端可执行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接收命令 → 执行 Shell → 返回结果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52628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507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手机端可操控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发送命令 → 屏幕上看到结果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212080"/>
            <a:ext cx="457200" cy="274320"/>
          </a:xfrm>
          <a:prstGeom prst="roundRect">
            <a:avLst>
              <a:gd name="adj" fmla="val 15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193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全链路负 3 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440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手机 → 云 → 桌面 → 手机完整走通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82880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828800"/>
            <a:ext cx="5029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微软雅黑"/>
              </a:defRPr>
            </a:pPr>
            <a:r>
              <a:t>路线图：接下来做什么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微软雅黑"/>
              </a:defRPr>
            </a:pPr>
            <a:r>
              <a:t>Sprint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7432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• 好友系统 + 私聊消息</a:t>
            </a:r>
            <a:br/>
            <a:r>
              <a:t>• 群组 + 频道（Discord 风格）</a:t>
            </a:r>
            <a:br/>
            <a:r>
              <a:t>• 消息撤回 + 已读回执</a:t>
            </a:r>
            <a:br/>
            <a:r>
              <a:t>• OpenClaw 深度集成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微软雅黑"/>
              </a:defRPr>
            </a:pPr>
            <a:r>
              <a:t>Sprint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069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• AI：Draft &amp; Verify 草稿工作流</a:t>
            </a:r>
            <a:br/>
            <a:r>
              <a:t>• AI：Whisper 耳语建议 (&lt;800ms)</a:t>
            </a:r>
            <a:br/>
            <a:r>
              <a:t>• AI：Predictive Actions 预测执行</a:t>
            </a:r>
            <a:br/>
            <a:r>
              <a:t>• 多 LLM 路由 (DeepSeek + Kimi)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  <a:latin typeface="微软雅黑"/>
              </a:defRPr>
            </a:pPr>
            <a:r>
              <a:t>未来展望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3949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• 文件传输 + S3 存储</a:t>
            </a:r>
            <a:br/>
            <a:r>
              <a:t>• 语音/视频通话 (WebRTC)</a:t>
            </a:r>
            <a:br/>
            <a:r>
              <a:t>• 插件系统（参考 Tailchat）</a:t>
            </a:r>
            <a:br/>
            <a:r>
              <a:t>• 国际化 + 生产部署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微软雅黑"/>
              </a:defRPr>
            </a:pPr>
            <a:r>
              <a:t>成功指标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如何衡量成功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0352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微软雅黑"/>
              </a:defRPr>
            </a:pPr>
            <a:r>
              <a:t>⭐  北极星指标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每日跨设备指令数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用户每天用手机指挥电脑执行任务、或用 Bot 辅助发送消息的次数。</a:t>
            </a:r>
            <a:br/>
            <a:r>
              <a:t>这个指标直接衡量产品核心价值主张。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29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微软雅黑"/>
              </a:defRPr>
            </a:pPr>
            <a:r>
              <a:t>📊  体验指标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草稿发送率 (Draft-to-Send Rate)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微软雅黑"/>
              </a:defRPr>
            </a:pPr>
            <a:r>
              <a:t>AI 生成的草稿被用户实际采纳（点击发送）的比例。</a:t>
            </a:r>
            <a:br/>
            <a:r>
              <a:t>比率越高 = AI 越理解用户意图。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0698480" cy="1828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1069848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7AFF"/>
                </a:solidFill>
                <a:latin typeface="微软雅黑"/>
              </a:defRPr>
            </a:pPr>
            <a:r>
              <a:t>性能目标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微软雅黑"/>
              </a:defRPr>
            </a:pPr>
            <a:r>
              <a:t>&lt; 2秒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消息延迟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端到端消息送达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8C42"/>
                </a:solidFill>
                <a:latin typeface="微软雅黑"/>
              </a:defRPr>
            </a:pPr>
            <a:r>
              <a:t>&lt; 3秒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命令执行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手机 → 桌面 → 结果返回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微软雅黑"/>
              </a:defRPr>
            </a:pPr>
            <a:r>
              <a:t>&lt; 800ms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AI 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Whisper 耳语气泡展示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19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5A5A"/>
                </a:solidFill>
                <a:latin typeface="微软雅黑"/>
              </a:defRPr>
            </a:pPr>
            <a:r>
              <a:t>&gt; 1000ms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19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放弃阈值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超时则不展示建议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微软雅黑"/>
              </a:defRPr>
            </a:pPr>
            <a:r>
              <a:t>项目结构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Turborepo Monorepo — 4 个应用 + 4 个共享包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572000" cy="45720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onsolas"/>
              </a:defRPr>
            </a:pPr>
            <a:r>
              <a:t>linkingchat/</a:t>
            </a:r>
            <a:br/>
            <a:r>
              <a:t>├─ apps/</a:t>
            </a:r>
            <a:br/>
            <a:r>
              <a:t>│  ├─ server/        云端大脑 (NestJS)</a:t>
            </a:r>
            <a:br/>
            <a:r>
              <a:t>│  ├─ web/           Web 客户端 (React)</a:t>
            </a:r>
            <a:br/>
            <a:r>
              <a:t>│  ├─ desktop/       桌面客户端 (Electron)</a:t>
            </a:r>
            <a:br/>
            <a:r>
              <a:t>│  └─ mobile/        移动端 (Flutter / RN)</a:t>
            </a:r>
            <a:br/>
            <a:r>
              <a:t>├─ packages/</a:t>
            </a:r>
            <a:br/>
            <a:r>
              <a:t>│  ├─ shared/        Zod 验证 + 枚举 + 常量</a:t>
            </a:r>
            <a:br/>
            <a:r>
              <a:t>│  ├─ ws-protocol/   WS 事件类型定义</a:t>
            </a:r>
            <a:br/>
            <a:r>
              <a:t>│  ├─ api-client/    REST API 客户端</a:t>
            </a:r>
            <a:br/>
            <a:r>
              <a:t>│  └─ ui/            共享 React 组件</a:t>
            </a:r>
            <a:br/>
            <a:r>
              <a:t>├─ docker/</a:t>
            </a:r>
            <a:br/>
            <a:r>
              <a:t>│  ├─ docker-compose.yaml</a:t>
            </a:r>
            <a:br/>
            <a:r>
              <a:t>│  └─ docker-compose.prod.yaml</a:t>
            </a:r>
            <a:br/>
            <a:r>
              <a:t>├─ turbo.json</a:t>
            </a:r>
            <a:br/>
            <a:r>
              <a:t>├─ pnpm-workspace.yaml</a:t>
            </a:r>
            <a:br/>
            <a:r>
              <a:t>└─ tsconfig.base.json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828800"/>
            <a:ext cx="5760720" cy="21031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57607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微软雅黑"/>
              </a:defRPr>
            </a:pPr>
            <a:r>
              <a:t>包依赖流向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317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onsolas"/>
              </a:defRPr>
            </a:pPr>
            <a:r>
              <a:t>@linkingchat/shared + @linkingchat/ws-protocol</a:t>
            </a:r>
            <a:br/>
            <a:r>
              <a:t>   └─→ server, web, desktop, api-client</a:t>
            </a:r>
            <a:br/>
            <a:br/>
            <a:r>
              <a:t>@linkingchat/ui (React 共享组件)</a:t>
            </a:r>
            <a:br/>
            <a:r>
              <a:t>   └─→ web, desktop</a:t>
            </a:r>
            <a:br/>
            <a:br/>
            <a:r>
              <a:t>@linkingchat/mobile (Flutter: 独立 / RN: 引用 shared)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4206240"/>
            <a:ext cx="576072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4206240"/>
            <a:ext cx="5760720" cy="3657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微软雅黑"/>
              </a:defRPr>
            </a:pPr>
            <a:r>
              <a:t>关键设计决策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70916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微软雅黑"/>
              </a:defRPr>
            </a:pPr>
            <a:r>
              <a:t>• REST-First: 所有数据变更走 REST，WS 仅广播事件</a:t>
            </a:r>
            <a:br/>
            <a:r>
              <a:t>• BroadcastService (@Global): 任何模块可推送 WS 事件</a:t>
            </a:r>
            <a:br/>
            <a:r>
              <a:t>• Result Monad: Service 返回 Result&lt;T,E&gt;，不抛异常</a:t>
            </a:r>
            <a:br/>
            <a:r>
              <a:t>• Prisma 替代 TypeORM: 声明式、类型安全、迁移可靠</a:t>
            </a:r>
            <a:br/>
            <a:r>
              <a:t>• 双 WS 命名空间: /chat 和 /device 完全隔离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2743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7AFF"/>
                </a:solidFill>
                <a:latin typeface="微软雅黑"/>
              </a:defRPr>
            </a:pPr>
            <a:r>
              <a:t>团队与参考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站在巨人的肩膀上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4572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微软雅黑"/>
              </a:defRPr>
            </a:pPr>
            <a:r>
              <a:t>团队配置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微软雅黑"/>
              </a:defRPr>
            </a:pPr>
            <a:r>
              <a:t>• 团队规模：2-3 人，前后端分离</a:t>
            </a:r>
            <a:br/>
            <a:r>
              <a:t>• 开发平台：macOS + Windows（macOS 优先）</a:t>
            </a:r>
            <a:br/>
            <a:r>
              <a:t>• 文档框架：Bmad v6</a:t>
            </a:r>
            <a:br/>
            <a:r>
              <a:t>• 测试策略：第一天就写单元测试 (Vitest)</a:t>
            </a:r>
            <a:br/>
            <a:r>
              <a:t>• TypeScript 全栈（Flutter = Dart 除外）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8288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1920240"/>
            <a:ext cx="320040" cy="27432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0116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7AFF"/>
                </a:solidFill>
                <a:latin typeface="微软雅黑"/>
              </a:defRPr>
            </a:pPr>
            <a:r>
              <a:t>脚手架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brocoders/nestjs-boilerplate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NestJS 项目结构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8288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920240"/>
            <a:ext cx="32004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0116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微软雅黑"/>
              </a:defRPr>
            </a:pPr>
            <a:r>
              <a:t>聊天领域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sentrionic/Valkyrie 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好友、群组、频道模型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18288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95560" y="1920240"/>
            <a:ext cx="32004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20116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微软雅黑"/>
              </a:defRPr>
            </a:pPr>
            <a:r>
              <a:t>WebSocket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mahdi-vajdi/nestjs-chat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Gateway + Redis 架构模式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32918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06440" y="3383280"/>
            <a:ext cx="320040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34747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42"/>
                </a:solidFill>
                <a:latin typeface="微软雅黑"/>
              </a:defRPr>
            </a:pPr>
            <a:r>
              <a:t>IM 协议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703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tinode/chat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023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协议设计参考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2918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3383280"/>
            <a:ext cx="32004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34747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微软雅黑"/>
              </a:defRPr>
            </a:pPr>
            <a:r>
              <a:t>远程控制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703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OpenClaw (MIT)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023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AI Agent Gateway，工具执行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32918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95560" y="3383280"/>
            <a:ext cx="320040" cy="274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34747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微软雅黑"/>
              </a:defRPr>
            </a:pPr>
            <a:r>
              <a:t>规范参考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3703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Matrix Protocol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4023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可扩展事件类型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206240"/>
            <a:ext cx="10698480" cy="21945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4206240"/>
            <a:ext cx="10698480" cy="36576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A5A"/>
                </a:solidFill>
                <a:latin typeface="微软雅黑"/>
              </a:defRPr>
            </a:pPr>
            <a:r>
              <a:t>Sprint 1 排除范围（延后实现）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754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好友 / 聊天 / 群组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983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Sprint 2+  —  Sprint 1 只做设备控制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54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AI（草稿 / 耳语 / 预测）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983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Sprint 3+  —  Sprint 1 直接转发命令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754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文件传输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983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Sprint 2+  —  Sprint 1 只传文本命令和结果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推送通知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760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Sprint 2+  —  Sprint 1 依赖 WebSocket 实时连接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国际化 / 生产部署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5760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Sprint 3+  —  Sprint 1 跑 localhost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OpenClaw 深度集成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5760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Sprint 2+  —  Sprint 1 用 child_process.exec()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457200"/>
            <a:ext cx="8229600" cy="8229600"/>
          </a:xfrm>
          <a:prstGeom prst="ellipse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103120"/>
            <a:ext cx="2103120" cy="54864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聊天即指令，好友即接口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AA"/>
                </a:solidFill>
                <a:latin typeface="微软雅黑"/>
              </a:defRPr>
            </a:pPr>
            <a:r>
              <a:t>Chat is your new Command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微软雅黑"/>
              </a:defRPr>
            </a:pPr>
            <a:r>
              <a:t>下一步：Sprint 1 PoC — 全链路命令执行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303520"/>
            <a:ext cx="3383280" cy="411480"/>
          </a:xfrm>
          <a:prstGeom prst="roundRect">
            <a:avLst>
              <a:gd name="adj" fmla="val 1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748B"/>
                </a:solidFill>
                <a:latin typeface="Consolas"/>
              </a:defRPr>
            </a:pPr>
            <a:r>
              <a:t>github.com/ZenoWangzy/linkingChat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9436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LinkingChat  ·  Ghost Mate  ·  2026年2月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