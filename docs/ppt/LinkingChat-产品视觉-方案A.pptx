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0EDE8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142E"/>
                </a:solidFill>
                <a:latin typeface="Segoe UI"/>
              </a:defRPr>
            </a:pPr>
            <a:r>
              <a:t>Product Visual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2860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AB5"/>
                </a:solidFill>
                <a:latin typeface="Segoe UI"/>
              </a:defRPr>
            </a:pPr>
            <a:r>
              <a:t>Scheme A  |  Rouge 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A Day with LinkingChat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36576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Morning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5176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Check messages on the train.</a:t>
            </a:r>
            <a:br/>
            <a:r>
              <a:t>AI has 3 reply suggestions</a:t>
            </a:r>
            <a:br/>
            <a:r>
              <a:t>for overnight messages.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3840480"/>
            <a:ext cx="1371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429000" y="1554480"/>
            <a:ext cx="1097280" cy="36576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10:30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At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103120"/>
            <a:ext cx="265176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210312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Tell your phone:</a:t>
            </a:r>
            <a:br/>
            <a:r>
              <a:t>'Run yesterday's build script'</a:t>
            </a:r>
            <a:br/>
            <a:r>
              <a:t>Desktop executes immediately.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3840480"/>
            <a:ext cx="1371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09360" y="1554480"/>
            <a:ext cx="1097280" cy="36576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14:00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Afternoon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103120"/>
            <a:ext cx="265176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10312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Error pops up on desktop.</a:t>
            </a:r>
            <a:br/>
            <a:r>
              <a:t>AI reads the log, suggests fix.</a:t>
            </a:r>
            <a:br/>
            <a:r>
              <a:t>One tap to apply.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06840" y="3840480"/>
            <a:ext cx="1371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189720" y="1554480"/>
            <a:ext cx="1097280" cy="36576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18:00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Leaving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103120"/>
            <a:ext cx="265176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210312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Phone reminds you:</a:t>
            </a:r>
            <a:br/>
            <a:r>
              <a:t>'3 unfinished tasks on desktop'</a:t>
            </a:r>
            <a:br/>
            <a:r>
              <a:t>Review and schedule for tomorrow.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79EBE"/>
                </a:solidFill>
                <a:latin typeface="Segoe UI"/>
              </a:defRPr>
            </a:pPr>
            <a:r>
              <a:t>All interactions happen within one app.  No switching between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Remote Control: Phone to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0116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05740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You type:</a:t>
            </a:r>
            <a:br/>
            <a:r>
              <a:t>"ls -la ~/projects"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87168" y="2971800.0"/>
            <a:ext cx="237744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743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828800"/>
            <a:ext cx="201168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80360" y="205740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Validates command</a:t>
            </a:r>
            <a:br/>
            <a:r>
              <a:t>Routes to desktop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3168" y="2971800.0"/>
            <a:ext cx="237744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828800"/>
            <a:ext cx="20116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66360" y="205740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Desktop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Executes shell command</a:t>
            </a:r>
            <a:br/>
            <a:r>
              <a:t>Captures 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2971800.0"/>
            <a:ext cx="237744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315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828800"/>
            <a:ext cx="201168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52360" y="205740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Formats result</a:t>
            </a:r>
            <a:br/>
            <a:r>
              <a:t>Routes back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45168" y="2971800.0"/>
            <a:ext cx="237744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601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1828800"/>
            <a:ext cx="20116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38360" y="205740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Shows output</a:t>
            </a:r>
            <a:br/>
            <a:r>
              <a:t>in chat bubble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54880"/>
            <a:ext cx="11155680" cy="457200"/>
          </a:xfrm>
          <a:prstGeom prst="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754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142E"/>
                </a:solidFill>
                <a:latin typeface="Segoe UI"/>
              </a:defRPr>
            </a:pPr>
            <a:r>
              <a:t>Total round-trip:  &lt; 3 seconds  end to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AB5"/>
                </a:solidFill>
                <a:latin typeface="Consolas"/>
              </a:defRPr>
            </a:pPr>
            <a:r>
              <a:t>Phone  ──send──&gt;  Cloud  ──route──&gt;  Desktop  ──exec──&gt;  Desktop  ──result──&gt;  Cloud  ──push──&gt;  Phone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Chat Interface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47548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Channels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1463040" cy="32004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#  general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463040" cy="32004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# 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1463040" cy="32004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#  bot-tasks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08960"/>
            <a:ext cx="1463040" cy="32004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# 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463040"/>
            <a:ext cx="5943600" cy="4754880"/>
          </a:xfrm>
          <a:prstGeom prst="rect">
            <a:avLst/>
          </a:prstGeom>
          <a:solidFill>
            <a:srgbClr val="0C1321"/>
          </a:solidFill>
          <a:ln w="12700">
            <a:solidFill>
              <a:srgbClr val="1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737360"/>
            <a:ext cx="2926080" cy="502920"/>
          </a:xfrm>
          <a:prstGeom prst="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You:  Run build script on desktop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377440"/>
            <a:ext cx="2926080" cy="502920"/>
          </a:xfrm>
          <a:prstGeom prst="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377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Bot:  Executing: npm run build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017520"/>
            <a:ext cx="2926080" cy="502920"/>
          </a:xfrm>
          <a:prstGeom prst="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017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Bot:  Build complete. 0 errors, 2 warnings.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657600"/>
            <a:ext cx="2926080" cy="50292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3657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Bot:  [Action Card]  View warnings  |  Deploy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5"/>
                </a:solidFill>
                <a:latin typeface="Segoe UI"/>
              </a:defRPr>
            </a:pPr>
            <a:r>
              <a:t>AI Suggestions: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4846320"/>
            <a:ext cx="1463040" cy="320040"/>
          </a:xfrm>
          <a:prstGeom prst="rect">
            <a:avLst/>
          </a:prstGeom>
          <a:solidFill>
            <a:srgbClr val="0C1321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142E"/>
                </a:solidFill>
                <a:latin typeface="Segoe UI"/>
              </a:defRPr>
            </a:pPr>
            <a:r>
              <a:t>View full 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846320"/>
            <a:ext cx="1463040" cy="320040"/>
          </a:xfrm>
          <a:prstGeom prst="rect">
            <a:avLst/>
          </a:prstGeom>
          <a:solidFill>
            <a:srgbClr val="0C1321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142E"/>
                </a:solidFill>
                <a:latin typeface="Segoe UI"/>
              </a:defRPr>
            </a:pPr>
            <a:r>
              <a:t>Fix warnings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846320"/>
            <a:ext cx="1463040" cy="320040"/>
          </a:xfrm>
          <a:prstGeom prst="rect">
            <a:avLst/>
          </a:prstGeom>
          <a:solidFill>
            <a:srgbClr val="0C1321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142E"/>
                </a:solidFill>
                <a:latin typeface="Segoe UI"/>
              </a:defRPr>
            </a:pPr>
            <a:r>
              <a:t>Push to staging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5303520"/>
            <a:ext cx="5943600" cy="457200"/>
          </a:xfrm>
          <a:prstGeom prst="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Type a message or command...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1463040"/>
            <a:ext cx="2743200" cy="47548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Devices &amp; Members</a:t>
            </a:r>
          </a:p>
        </p:txBody>
      </p:sp>
      <p:sp>
        <p:nvSpPr>
          <p:cNvPr id="36" name="Oval 35"/>
          <p:cNvSpPr/>
          <p:nvPr/>
        </p:nvSpPr>
        <p:spPr>
          <a:xfrm>
            <a:off x="8869680" y="2057400"/>
            <a:ext cx="228600" cy="228600"/>
          </a:xfrm>
          <a:prstGeom prst="ellipse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Desktop-Work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212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AB5"/>
                </a:solidFill>
                <a:latin typeface="Segoe UI"/>
              </a:defRPr>
            </a:pPr>
            <a:r>
              <a:t>Online</a:t>
            </a:r>
          </a:p>
        </p:txBody>
      </p:sp>
      <p:sp>
        <p:nvSpPr>
          <p:cNvPr id="39" name="Oval 38"/>
          <p:cNvSpPr/>
          <p:nvPr/>
        </p:nvSpPr>
        <p:spPr>
          <a:xfrm>
            <a:off x="8869680" y="2514600"/>
            <a:ext cx="228600" cy="228600"/>
          </a:xfrm>
          <a:prstGeom prst="ellipse">
            <a:avLst/>
          </a:prstGeom>
          <a:solidFill>
            <a:srgbClr val="8A9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2468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Desktop-Home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26700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AB5"/>
                </a:solidFill>
                <a:latin typeface="Segoe UI"/>
              </a:defRPr>
            </a:pPr>
            <a:r>
              <a:t>Offline</a:t>
            </a:r>
          </a:p>
        </p:txBody>
      </p:sp>
      <p:sp>
        <p:nvSpPr>
          <p:cNvPr id="42" name="Oval 41"/>
          <p:cNvSpPr/>
          <p:nvPr/>
        </p:nvSpPr>
        <p:spPr>
          <a:xfrm>
            <a:off x="8869680" y="2971800"/>
            <a:ext cx="228600" cy="228600"/>
          </a:xfrm>
          <a:prstGeom prst="ellipse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2926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Bot Assistant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1272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AB5"/>
                </a:solidFill>
                <a:latin typeface="Segoe UI"/>
              </a:defRPr>
            </a:pPr>
            <a:r>
              <a:t>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Draft &amp; Verify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286000" cy="20116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228600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Waiting for</a:t>
            </a:r>
            <a:br/>
            <a:r>
              <a:t>your command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291840.0"/>
            <a:ext cx="365760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0" y="2286000"/>
            <a:ext cx="2286000" cy="20116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286000"/>
            <a:ext cx="22860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560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08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AI processes</a:t>
            </a:r>
            <a:br/>
            <a:r>
              <a:t>your intent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3291840.0"/>
            <a:ext cx="365760" cy="0.0"/>
          </a:xfrm>
          <a:prstGeom prst="line">
            <a:avLst/>
          </a:prstGeom>
          <a:ln w="25400">
            <a:solidFill>
              <a:srgbClr val="34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0" y="2286000"/>
            <a:ext cx="2286000" cy="20116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228600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Draft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Preview shown</a:t>
            </a:r>
            <a:br/>
            <a:r>
              <a:t>in input box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3291840.0"/>
            <a:ext cx="365760" cy="0.0"/>
          </a:xfrm>
          <a:prstGeom prst="line">
            <a:avLst/>
          </a:prstGeom>
          <a:ln w="25400">
            <a:solidFill>
              <a:srgbClr val="CC1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144000" y="2286000"/>
            <a:ext cx="2286000" cy="20116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286000"/>
            <a:ext cx="228600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560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108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You confirmed.</a:t>
            </a:r>
            <a:br/>
            <a:r>
              <a:t>Message delivered.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Reject / Edit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43800" y="4297680"/>
            <a:ext cx="0" cy="274320"/>
          </a:xfrm>
          <a:prstGeom prst="line">
            <a:avLst/>
          </a:prstGeom>
          <a:ln w="19050">
            <a:solidFill>
              <a:srgbClr val="CC1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800600" y="4937760"/>
            <a:ext cx="2743200" cy="0"/>
          </a:xfrm>
          <a:prstGeom prst="line">
            <a:avLst/>
          </a:prstGeom>
          <a:ln w="19050">
            <a:solidFill>
              <a:srgbClr val="CC1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800600" y="4297680"/>
            <a:ext cx="0" cy="640080"/>
          </a:xfrm>
          <a:prstGeom prst="line">
            <a:avLst/>
          </a:prstGeom>
          <a:ln w="19050">
            <a:solidFill>
              <a:srgbClr val="CC1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79EBE"/>
                </a:solidFill>
                <a:latin typeface="Segoe UI"/>
              </a:defRPr>
            </a:pPr>
            <a:r>
              <a:t>Key principle:  AI prepares, you decide.  Nothing leaves without your confirmation.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142E"/>
                </a:solidFill>
                <a:latin typeface="Segoe UI"/>
              </a:defRPr>
            </a:pPr>
            <a:r>
              <a:t>Cloud Brain  +  Local Hands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286000" cy="41148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2860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759A"/>
                </a:solidFill>
                <a:latin typeface="Segoe UI"/>
              </a:defRPr>
            </a:pPr>
            <a:r>
              <a:t>Flutter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108960"/>
            <a:ext cx="192024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Chat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Command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Draft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Device Selector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103120"/>
            <a:ext cx="4389120" cy="41148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2103120"/>
            <a:ext cx="438912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377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7432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142E"/>
                </a:solidFill>
                <a:latin typeface="Segoe UI"/>
              </a:defRPr>
            </a:pPr>
            <a:r>
              <a:t>NestJS + PostgreSQL + Redis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3108960"/>
            <a:ext cx="40233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023360" y="3291840"/>
            <a:ext cx="137160" cy="13716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26440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WebSocket Gateway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703320"/>
            <a:ext cx="137160" cy="13716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67588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Auth Service (JWT)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114800"/>
            <a:ext cx="137160" cy="13716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08736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AI Router (DeepSeek / Kimi)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526280"/>
            <a:ext cx="137160" cy="13716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49884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Device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4937760"/>
            <a:ext cx="137160" cy="13716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491032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Command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5349240"/>
            <a:ext cx="137160" cy="13716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32180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Draft State Machine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2103120"/>
            <a:ext cx="2286000" cy="41148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2103120"/>
            <a:ext cx="22860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Desktop 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759A"/>
                </a:solidFill>
                <a:latin typeface="Segoe UI"/>
              </a:defRPr>
            </a:pPr>
            <a:r>
              <a:t>Electron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509760" y="3108960"/>
            <a:ext cx="192024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0120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Chat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Shell Executor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File 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Status Reporter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43200" y="3543300.0"/>
            <a:ext cx="1097280" cy="0.0"/>
          </a:xfrm>
          <a:prstGeom prst="line">
            <a:avLst/>
          </a:prstGeom>
          <a:ln w="25400">
            <a:solidFill>
              <a:srgbClr val="34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83464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759A"/>
                </a:solidFill>
                <a:latin typeface="Segoe UI"/>
              </a:defRPr>
            </a:pPr>
            <a:r>
              <a:t>WSS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0" y="3543300.0"/>
            <a:ext cx="1097280" cy="0.0"/>
          </a:xfrm>
          <a:prstGeom prst="line">
            <a:avLst/>
          </a:prstGeom>
          <a:ln w="25400">
            <a:solidFill>
              <a:srgbClr val="34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50392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759A"/>
                </a:solidFill>
                <a:latin typeface="Segoe UI"/>
              </a:defRPr>
            </a:pPr>
            <a:r>
              <a:t>WSS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Data Flow: Command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2286000" cy="4572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8250" y="2103120"/>
            <a:ext cx="12700" cy="4389120"/>
          </a:xfrm>
          <a:prstGeom prst="rect">
            <a:avLst/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1645920"/>
            <a:ext cx="2286000" cy="4572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850" y="2103120"/>
            <a:ext cx="12700" cy="4389120"/>
          </a:xfrm>
          <a:prstGeom prst="rect">
            <a:avLst/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1645920"/>
            <a:ext cx="2286000" cy="4572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Desktop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3450" y="2103120"/>
            <a:ext cx="12700" cy="4389120"/>
          </a:xfrm>
          <a:prstGeom prst="rect">
            <a:avLst/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514600.0" y="2377440"/>
            <a:ext cx="3657600.0" cy="0"/>
          </a:xfrm>
          <a:prstGeom prst="line">
            <a:avLst/>
          </a:prstGeom>
          <a:ln w="19050">
            <a:solidFill>
              <a:srgbClr val="6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1880" y="2148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Send command</a:t>
            </a:r>
          </a:p>
        </p:txBody>
      </p:sp>
      <p:sp>
        <p:nvSpPr>
          <p:cNvPr id="17" name="Oval 16"/>
          <p:cNvSpPr/>
          <p:nvPr/>
        </p:nvSpPr>
        <p:spPr>
          <a:xfrm>
            <a:off x="2468880" y="23317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606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Validate + log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27889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172200.0" y="3291840"/>
            <a:ext cx="3657600.0" cy="0"/>
          </a:xfrm>
          <a:prstGeom prst="line">
            <a:avLst/>
          </a:prstGeom>
          <a:ln w="19050">
            <a:solidFill>
              <a:srgbClr val="6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69480" y="30632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Route to device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32461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520439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Execute shell</a:t>
            </a:r>
          </a:p>
        </p:txBody>
      </p:sp>
      <p:sp>
        <p:nvSpPr>
          <p:cNvPr id="24" name="Oval 23"/>
          <p:cNvSpPr/>
          <p:nvPr/>
        </p:nvSpPr>
        <p:spPr>
          <a:xfrm>
            <a:off x="9784080" y="3703319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6172200.0" y="4206240"/>
            <a:ext cx="3657600.0" cy="0"/>
          </a:xfrm>
          <a:prstGeom prst="line">
            <a:avLst/>
          </a:prstGeom>
          <a:ln w="19050">
            <a:solidFill>
              <a:srgbClr val="6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69480" y="3977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Return result</a:t>
            </a:r>
          </a:p>
        </p:txBody>
      </p:sp>
      <p:sp>
        <p:nvSpPr>
          <p:cNvPr id="27" name="Oval 26"/>
          <p:cNvSpPr/>
          <p:nvPr/>
        </p:nvSpPr>
        <p:spPr>
          <a:xfrm>
            <a:off x="9784080" y="41605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2514600.0" y="4663440"/>
            <a:ext cx="3657600.0" cy="0"/>
          </a:xfrm>
          <a:prstGeom prst="line">
            <a:avLst/>
          </a:prstGeom>
          <a:ln w="19050">
            <a:solidFill>
              <a:srgbClr val="6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1188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Push to phone</a:t>
            </a:r>
          </a:p>
        </p:txBody>
      </p:sp>
      <p:sp>
        <p:nvSpPr>
          <p:cNvPr id="30" name="Oval 29"/>
          <p:cNvSpPr/>
          <p:nvPr/>
        </p:nvSpPr>
        <p:spPr>
          <a:xfrm>
            <a:off x="6126480" y="46177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Feature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64592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114800" cy="41148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EDE8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554480"/>
            <a:ext cx="1645920" cy="41148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EDE8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554480"/>
            <a:ext cx="1828800" cy="41148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EDE8"/>
                </a:solidFill>
                <a:latin typeface="Segoe UI"/>
              </a:defRPr>
            </a:pPr>
            <a:r>
              <a:t>Desktop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554480"/>
            <a:ext cx="1828800" cy="41148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EDE8"/>
                </a:solidFill>
                <a:latin typeface="Segoe UI"/>
              </a:defRPr>
            </a:pPr>
            <a:r>
              <a:t>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011680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11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Send &amp; receive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450592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45059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Remote shell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50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450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50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889504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88950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Draft &amp;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88950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8895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8895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28416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32841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Whisper suggestions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2841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3284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3284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67328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76732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Predictive action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767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767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767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06240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2062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File browsing &amp; transfer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206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645152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64515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Device status 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645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645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645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084064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08406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AI model routing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08406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0840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50840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522976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52297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Offline message queue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5229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522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5522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961888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9618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Dangerous command guard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59618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59618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59618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33272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1920240"/>
            <a:ext cx="201168" cy="201168"/>
          </a:xfrm>
          <a:prstGeom prst="ellipse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246888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468880"/>
            <a:ext cx="246888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142E"/>
                </a:solidFill>
                <a:latin typeface="Segoe UI"/>
              </a:defRPr>
            </a:pPr>
            <a:r>
              <a:t>Sprint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Minimal 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Phone sends command</a:t>
            </a:r>
            <a:br/>
            <a:r>
              <a:t>Desktop executes</a:t>
            </a:r>
            <a:br/>
            <a:r>
              <a:t>Result returns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1920240"/>
            <a:ext cx="201168" cy="201168"/>
          </a:xfrm>
          <a:prstGeom prst="ellipse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2468880"/>
            <a:ext cx="246888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2468880"/>
            <a:ext cx="24688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759A"/>
                </a:solidFill>
                <a:latin typeface="Segoe UI"/>
              </a:defRPr>
            </a:pPr>
            <a:r>
              <a:t>Sprint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Social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1-on-1 chat</a:t>
            </a:r>
            <a:br/>
            <a:r>
              <a:t>Message history</a:t>
            </a:r>
            <a:br/>
            <a:r>
              <a:t>Online status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0" y="1920240"/>
            <a:ext cx="201168" cy="201168"/>
          </a:xfrm>
          <a:prstGeom prst="ellipse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468880"/>
            <a:ext cx="246888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468880"/>
            <a:ext cx="246888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142E"/>
                </a:solidFill>
                <a:latin typeface="Segoe UI"/>
              </a:defRPr>
            </a:pPr>
            <a:r>
              <a:t>Sprint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AI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Whisper suggestions</a:t>
            </a:r>
            <a:br/>
            <a:r>
              <a:t>Draft &amp; Verify</a:t>
            </a:r>
            <a:br/>
            <a:r>
              <a:t>Predictive actions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9966960" y="1920240"/>
            <a:ext cx="201168" cy="201168"/>
          </a:xfrm>
          <a:prstGeom prst="ellipse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2468880"/>
            <a:ext cx="246888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468880"/>
            <a:ext cx="24688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759A"/>
                </a:solidFill>
                <a:latin typeface="Segoe UI"/>
              </a:defRPr>
            </a:pPr>
            <a:r>
              <a:t>Sprint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Group chat</a:t>
            </a:r>
            <a:br/>
            <a:r>
              <a:t>File transfer</a:t>
            </a:r>
            <a:br/>
            <a:r>
              <a:t>Push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EDE8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91840"/>
            <a:ext cx="22860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142E"/>
                </a:solidFill>
                <a:latin typeface="Segoe UI"/>
              </a:defRPr>
            </a:pPr>
            <a:r>
              <a:t>Chat is your new Command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Visual Guide  |  Scheme A  |  Rouge 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