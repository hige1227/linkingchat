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914400"/>
            <a:ext cx="6400800" cy="6400800"/>
          </a:xfrm>
          <a:prstGeom prst="ellipse">
            <a:avLst/>
          </a:prstGeom>
          <a:solidFill>
            <a:srgbClr val="15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12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8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1371600"/>
            <a:ext cx="457200" cy="82296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508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📱</a:t>
            </a:r>
          </a:p>
        </p:txBody>
      </p:sp>
      <p:sp>
        <p:nvSpPr>
          <p:cNvPr id="7" name="Oval 6"/>
          <p:cNvSpPr/>
          <p:nvPr/>
        </p:nvSpPr>
        <p:spPr>
          <a:xfrm>
            <a:off x="5669280" y="1188720"/>
            <a:ext cx="1005840" cy="100584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3716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微软雅黑"/>
              </a:defRPr>
            </a:pPr>
            <a:r>
              <a:t>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371600"/>
            <a:ext cx="731520" cy="54864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3898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63440" y="1645920"/>
            <a:ext cx="914400" cy="182880"/>
          </a:xfrm>
          <a:prstGeom prst="rightArrow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6766560" y="1645920"/>
            <a:ext cx="731520" cy="182880"/>
          </a:xfrm>
          <a:prstGeom prst="rightArrow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微软雅黑"/>
              </a:defRPr>
            </a:pPr>
            <a:r>
              <a:t>LinkingChat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AA"/>
                </a:solidFill>
                <a:latin typeface="微软雅黑"/>
              </a:defRPr>
            </a:pPr>
            <a:r>
              <a:t>你的手机是遥控器，你的电脑是执行者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微软雅黑"/>
              </a:defRPr>
            </a:pPr>
            <a:r>
              <a:t>一个不需要在「微信」和「终端」之间切换的世界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5486400"/>
            <a:ext cx="4846320" cy="27432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产品视觉概念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一天中的 LinkingChat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微软雅黑"/>
              </a:defRPr>
            </a:pPr>
            <a:r>
              <a:t>从早到晚，你的 Bot 安静地站在你身后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29000"/>
            <a:ext cx="10698480" cy="36576"/>
          </a:xfrm>
          <a:prstGeom prst="rect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3291840"/>
            <a:ext cx="274320" cy="2743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Consolas"/>
              </a:defRPr>
            </a:pPr>
            <a:r>
              <a:t>09:00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21031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📱  通勤路上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地铁上用手机给电脑</a:t>
            </a:r>
            <a:br/>
            <a:r>
              <a:t>发指令：</a:t>
            </a:r>
            <a:br/>
            <a:r>
              <a:t>「帮我跑一下</a:t>
            </a:r>
            <a:br/>
            <a:r>
              <a:t>昨晚的测试脚本」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4752" y="3200400"/>
            <a:ext cx="36576" cy="1005840"/>
          </a:xfrm>
          <a:prstGeom prst="rect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329184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834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7AFF"/>
                </a:solidFill>
                <a:latin typeface="Consolas"/>
              </a:defRPr>
            </a:pPr>
            <a:r>
              <a:t>10:30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384048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3840480"/>
            <a:ext cx="210312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💬  收到消息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2976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老板问：「进度怎样了？」</a:t>
            </a:r>
            <a:br/>
            <a:r>
              <a:t>Bot 悬浮 3 个建议：</a:t>
            </a:r>
            <a:br/>
            <a:r>
              <a:t>[顺利进行中]</a:t>
            </a:r>
            <a:br/>
            <a:r>
              <a:t>[需要多一天]</a:t>
            </a:r>
            <a:br/>
            <a:r>
              <a:t>[电话沟通]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30752" y="3566160"/>
            <a:ext cx="36576" cy="274320"/>
          </a:xfrm>
          <a:prstGeom prst="rect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97880" y="3291840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2834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onsolas"/>
              </a:defRPr>
            </a:pPr>
            <a:r>
              <a:t>14:00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37160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1371600"/>
            <a:ext cx="21031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✍  写汇报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18288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「把今天的 git log</a:t>
            </a:r>
            <a:br/>
            <a:r>
              <a:t>整理成日报发给王总」</a:t>
            </a:r>
            <a:br/>
            <a:r>
              <a:t>Bot 生成草稿 →</a:t>
            </a:r>
            <a:br/>
            <a:r>
              <a:t>你确认后一键发送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16752" y="3200400"/>
            <a:ext cx="36576" cy="1005840"/>
          </a:xfrm>
          <a:prstGeom prst="rect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83880" y="3291840"/>
            <a:ext cx="274320" cy="2743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834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42"/>
                </a:solidFill>
                <a:latin typeface="Consolas"/>
              </a:defRPr>
            </a:pPr>
            <a:r>
              <a:t>16:30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384048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06640" y="3840480"/>
            <a:ext cx="210312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⚡  排查 Bug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2976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终端报错，Bot 自动</a:t>
            </a:r>
            <a:br/>
            <a:r>
              <a:t>分析并给出修复建议：</a:t>
            </a:r>
            <a:br/>
            <a:r>
              <a:t>[运行修复命令]</a:t>
            </a:r>
            <a:br/>
            <a:r>
              <a:t>[查看详细日志]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02752" y="3566160"/>
            <a:ext cx="36576" cy="274320"/>
          </a:xfrm>
          <a:prstGeom prst="rect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69880" y="3291840"/>
            <a:ext cx="274320" cy="2743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2834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Consolas"/>
              </a:defRPr>
            </a:pPr>
            <a:r>
              <a:t>19:00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92640" y="137160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92640" y="1371600"/>
            <a:ext cx="210312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🏠  下班回家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18288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手机查看：</a:t>
            </a:r>
            <a:br/>
            <a:r>
              <a:t>今天执行了 12 条指令</a:t>
            </a:r>
            <a:br/>
            <a:r>
              <a:t>草稿采纳率 87%</a:t>
            </a:r>
            <a:br/>
            <a:r>
              <a:t>电脑已自动休眠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88752" y="3200400"/>
            <a:ext cx="36576" cy="1005840"/>
          </a:xfrm>
          <a:prstGeom prst="rect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核心价值：手机遥控电脑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194560" cy="4389120"/>
          </a:xfrm>
          <a:prstGeom prst="roundRect">
            <a:avLst>
              <a:gd name="adj" fmla="val 8000"/>
            </a:avLst>
          </a:prstGeom>
          <a:solidFill>
            <a:srgbClr val="22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2011680" cy="3886200"/>
          </a:xfrm>
          <a:prstGeom prst="roundRect">
            <a:avLst>
              <a:gd name="adj" fmla="val 3000"/>
            </a:avLst>
          </a:prstGeom>
          <a:solidFill>
            <a:srgbClr val="1A1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63040" y="1417320"/>
            <a:ext cx="731520" cy="182880"/>
          </a:xfrm>
          <a:prstGeom prst="roundRect">
            <a:avLst>
              <a:gd name="adj" fmla="val 30000"/>
            </a:avLst>
          </a:prstGeom>
          <a:solidFill>
            <a:srgbClr val="11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5596128"/>
            <a:ext cx="731520" cy="36576"/>
          </a:xfrm>
          <a:prstGeom prst="roundRect">
            <a:avLst>
              <a:gd name="adj" fmla="val 50000"/>
            </a:avLst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2011680" cy="411480"/>
          </a:xfrm>
          <a:prstGeom prst="rect">
            <a:avLst/>
          </a:prstGeom>
          <a:solidFill>
            <a:srgbClr val="1E1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我的设备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194560"/>
            <a:ext cx="1865376" cy="548640"/>
          </a:xfrm>
          <a:prstGeom prst="roundRect">
            <a:avLst>
              <a:gd name="adj" fmla="val 5000"/>
            </a:avLst>
          </a:prstGeom>
          <a:solidFill>
            <a:srgbClr val="1E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304288"/>
            <a:ext cx="320040" cy="3200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042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86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MacBook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68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微软雅黑"/>
              </a:defRPr>
            </a:pPr>
            <a:r>
              <a:t>• 在线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926080"/>
            <a:ext cx="1865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微软雅黑"/>
              </a:defRPr>
            </a:pPr>
            <a:r>
              <a:t>输入命令：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3154680"/>
            <a:ext cx="1865376" cy="411480"/>
          </a:xfrm>
          <a:prstGeom prst="roundRect">
            <a:avLst>
              <a:gd name="adj" fmla="val 5000"/>
            </a:avLst>
          </a:prstGeom>
          <a:solidFill>
            <a:srgbClr val="38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200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CF1"/>
                </a:solidFill>
                <a:latin typeface="Consolas"/>
              </a:defRPr>
            </a:pPr>
            <a:r>
              <a:t>ls -la /Users/me/project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703320"/>
            <a:ext cx="1865376" cy="365760"/>
          </a:xfrm>
          <a:prstGeom prst="roundRect">
            <a:avLst>
              <a:gd name="adj" fmla="val 10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30752"/>
            <a:ext cx="186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▶  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206240"/>
            <a:ext cx="1865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微软雅黑"/>
              </a:defRPr>
            </a:pPr>
            <a:r>
              <a:t>执行结果：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" y="4389120"/>
            <a:ext cx="1865376" cy="822960"/>
          </a:xfrm>
          <a:prstGeom prst="roundRect">
            <a:avLst>
              <a:gd name="adj" fmla="val 3000"/>
            </a:avLst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34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ADE80"/>
                </a:solidFill>
                <a:latin typeface="Consolas"/>
              </a:defRPr>
            </a:pPr>
            <a:r>
              <a:t>drwxr-xr-x  12 me  staff</a:t>
            </a:r>
            <a:br/>
            <a:r>
              <a:t>-rw-r--r--   1 me  staff  package.json</a:t>
            </a:r>
            <a:br/>
            <a:r>
              <a:t>-rw-r--r--   1 me  staff  tsconfig.json</a:t>
            </a:r>
            <a:br/>
            <a:r>
              <a:t>drwxr-xr-x   8 me  staff  src/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291840" y="2560320"/>
            <a:ext cx="1371600" cy="36576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  <a:latin typeface="微软雅黑"/>
              </a:defRPr>
            </a:pPr>
            <a:r>
              <a:t>发送指令</a:t>
            </a:r>
          </a:p>
        </p:txBody>
      </p:sp>
      <p:sp>
        <p:nvSpPr>
          <p:cNvPr id="24" name="Oval 23"/>
          <p:cNvSpPr/>
          <p:nvPr/>
        </p:nvSpPr>
        <p:spPr>
          <a:xfrm>
            <a:off x="4846320" y="1828800"/>
            <a:ext cx="2560320" cy="2560320"/>
          </a:xfrm>
          <a:prstGeom prst="ellipse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7AFF"/>
                </a:solidFill>
                <a:latin typeface="微软雅黑"/>
              </a:defRPr>
            </a:pPr>
            <a:r>
              <a:t>☁ 云端大脑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7432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验证权限</a:t>
            </a:r>
            <a:br/>
            <a:r>
              <a:t>安全检查</a:t>
            </a:r>
            <a:br/>
            <a:r>
              <a:t>路由转发</a:t>
            </a:r>
            <a:br/>
            <a:r>
              <a:t>记录日志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589520" y="2560320"/>
            <a:ext cx="1371600" cy="36576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微软雅黑"/>
              </a:defRPr>
            </a:pPr>
            <a:r>
              <a:t>转发执行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589520" y="4114800"/>
            <a:ext cx="1371600" cy="274320"/>
          </a:xfrm>
          <a:prstGeom prst="rightArrow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42"/>
                </a:solidFill>
                <a:latin typeface="微软雅黑"/>
              </a:defRPr>
            </a:pPr>
            <a:r>
              <a:t>返回结果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291840" y="4114800"/>
            <a:ext cx="1371600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  <a:latin typeface="微软雅黑"/>
              </a:defRPr>
            </a:pPr>
            <a:r>
              <a:t>显示在手机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1371600"/>
            <a:ext cx="2743200" cy="4114800"/>
          </a:xfrm>
          <a:prstGeom prst="roundRect">
            <a:avLst>
              <a:gd name="adj" fmla="val 2000"/>
            </a:avLst>
          </a:prstGeom>
          <a:solidFill>
            <a:srgbClr val="2B2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1371600"/>
            <a:ext cx="2743200" cy="320040"/>
          </a:xfrm>
          <a:prstGeom prst="rect">
            <a:avLst/>
          </a:prstGeom>
          <a:solidFill>
            <a:srgbClr val="1E1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81160" y="1463040"/>
            <a:ext cx="128016" cy="128016"/>
          </a:xfrm>
          <a:prstGeom prst="ellipse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82328" y="1463040"/>
            <a:ext cx="128016" cy="12801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83496" y="1463040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1691640"/>
            <a:ext cx="2743200" cy="3794760"/>
          </a:xfrm>
          <a:prstGeom prst="rect">
            <a:avLst/>
          </a:prstGeom>
          <a:solidFill>
            <a:srgbClr val="1A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1783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LinkingChat Desktop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103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微软雅黑"/>
              </a:defRPr>
            </a:pPr>
            <a:r>
              <a:t>✅ 已连接到云端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4688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D4AA"/>
                </a:solidFill>
                <a:latin typeface="Consolas"/>
              </a:defRPr>
            </a:pPr>
            <a:r>
              <a:t>⏳ 收到命令: ls -la /Users/me/project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2743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8C42"/>
                </a:solidFill>
                <a:latin typeface="微软雅黑"/>
              </a:defRPr>
            </a:pPr>
            <a:r>
              <a:t>▶ 正在执行...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063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微软雅黑"/>
              </a:defRPr>
            </a:pPr>
            <a:r>
              <a:t>✅ 执行完成 (0.3s)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3832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0AEC0"/>
                </a:solidFill>
                <a:latin typeface="Consolas"/>
              </a:defRPr>
            </a:pPr>
            <a:r>
              <a:t>$ ls -la /Users/me/project</a:t>
            </a:r>
            <a:br/>
            <a:r>
              <a:t>total 48</a:t>
            </a:r>
            <a:br/>
            <a:r>
              <a:t>drwxr-xr-x  12 me staff  384  Feb 12</a:t>
            </a:r>
            <a:br/>
            <a:r>
              <a:t>-rw-r--r--   1 me staff 1205  package.json</a:t>
            </a:r>
            <a:br/>
            <a:r>
              <a:t>-rw-r--r--   1 me staff  843  tsconfig.json</a:t>
            </a:r>
            <a:br/>
            <a:r>
              <a:t>drwxr-xr-x   8 me staff  256  src/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  <a:latin typeface="微软雅黑"/>
              </a:defRPr>
            </a:pPr>
            <a:r>
              <a:t>不在电脑旁？没关系。你的手机就是遥控器。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UI 概念：社交聊天界面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Discord 风格的三栏布局 — 熟悉的体验，全新的能力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5303520"/>
          </a:xfrm>
          <a:prstGeom prst="roundRect">
            <a:avLst>
              <a:gd name="adj" fmla="val 2000"/>
            </a:avLst>
          </a:prstGeom>
          <a:solidFill>
            <a:srgbClr val="2B2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solidFill>
            <a:srgbClr val="1E1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280160"/>
            <a:ext cx="128016" cy="128016"/>
          </a:xfrm>
          <a:prstGeom prst="ellipse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" y="1280160"/>
            <a:ext cx="128016" cy="12801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1016" y="1280160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LinkingChat Desktop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640080" cy="4983480"/>
          </a:xfrm>
          <a:prstGeom prst="rect">
            <a:avLst/>
          </a:prstGeom>
          <a:solidFill>
            <a:srgbClr val="1E1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29000"/>
            <a:ext cx="457200" cy="457200"/>
          </a:xfrm>
          <a:prstGeom prst="ellipse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737360"/>
            <a:ext cx="36576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1508760"/>
            <a:ext cx="2011680" cy="4983480"/>
          </a:xfrm>
          <a:prstGeom prst="rect">
            <a:avLst/>
          </a:prstGeom>
          <a:solidFill>
            <a:srgbClr val="1E1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1600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开发团队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44752" y="1947672"/>
            <a:ext cx="1865376" cy="292608"/>
          </a:xfrm>
          <a:prstGeom prst="roundRect">
            <a:avLst>
              <a:gd name="adj" fmla="val 8000"/>
            </a:avLst>
          </a:prstGeom>
          <a:solidFill>
            <a:srgbClr val="353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#  通用聊天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313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#  前端开发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60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#  后端开发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0083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A455C"/>
                </a:solidFill>
                <a:latin typeface="微软雅黑"/>
              </a:defRPr>
            </a:pPr>
            <a:r>
              <a:t>── 设备控制 ──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3558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🖥  我的电脑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703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💻  办公电脑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050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A455C"/>
                </a:solidFill>
                <a:latin typeface="微软雅黑"/>
              </a:defRPr>
            </a:pPr>
            <a:r>
              <a:t>── AI 助手 ──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3982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🤖  Bot 对话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983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在线 — 3</a:t>
            </a:r>
          </a:p>
        </p:txBody>
      </p:sp>
      <p:sp>
        <p:nvSpPr>
          <p:cNvPr id="28" name="Oval 27"/>
          <p:cNvSpPr/>
          <p:nvPr/>
        </p:nvSpPr>
        <p:spPr>
          <a:xfrm>
            <a:off x="1508760" y="5285231"/>
            <a:ext cx="182880" cy="182880"/>
          </a:xfrm>
          <a:prstGeom prst="ellipse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27632" y="5404103"/>
            <a:ext cx="73152" cy="7315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55648" y="525779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  <a:latin typeface="微软雅黑"/>
              </a:defRPr>
            </a:pPr>
            <a:r>
              <a:t>小明</a:t>
            </a:r>
          </a:p>
        </p:txBody>
      </p:sp>
      <p:sp>
        <p:nvSpPr>
          <p:cNvPr id="31" name="Oval 30"/>
          <p:cNvSpPr/>
          <p:nvPr/>
        </p:nvSpPr>
        <p:spPr>
          <a:xfrm>
            <a:off x="1508760" y="5605271"/>
            <a:ext cx="182880" cy="182880"/>
          </a:xfrm>
          <a:prstGeom prst="ellipse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27632" y="5724143"/>
            <a:ext cx="73152" cy="7315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55648" y="5577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  <a:latin typeface="微软雅黑"/>
              </a:defRPr>
            </a:pPr>
            <a:r>
              <a:t>小红</a:t>
            </a:r>
          </a:p>
        </p:txBody>
      </p:sp>
      <p:sp>
        <p:nvSpPr>
          <p:cNvPr id="34" name="Oval 33"/>
          <p:cNvSpPr/>
          <p:nvPr/>
        </p:nvSpPr>
        <p:spPr>
          <a:xfrm>
            <a:off x="1508760" y="5925312"/>
            <a:ext cx="182880" cy="182880"/>
          </a:xfrm>
          <a:prstGeom prst="ellipse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27632" y="6044184"/>
            <a:ext cx="73152" cy="73152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55648" y="5897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  <a:latin typeface="微软雅黑"/>
              </a:defRPr>
            </a:pPr>
            <a:r>
              <a:t>Bot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1508760"/>
            <a:ext cx="5760720" cy="4983480"/>
          </a:xfrm>
          <a:prstGeom prst="rect">
            <a:avLst/>
          </a:prstGeom>
          <a:solidFill>
            <a:srgbClr val="2B2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83280" y="1508760"/>
            <a:ext cx="5760720" cy="365760"/>
          </a:xfrm>
          <a:prstGeom prst="rect">
            <a:avLst/>
          </a:prstGeom>
          <a:solidFill>
            <a:srgbClr val="313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157276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#  通用聊天</a:t>
            </a:r>
          </a:p>
        </p:txBody>
      </p:sp>
      <p:sp>
        <p:nvSpPr>
          <p:cNvPr id="40" name="Oval 39"/>
          <p:cNvSpPr/>
          <p:nvPr/>
        </p:nvSpPr>
        <p:spPr>
          <a:xfrm>
            <a:off x="3520440" y="20574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20574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2011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微软雅黑"/>
              </a:defRPr>
            </a:pPr>
            <a:r>
              <a:t>小明  10:32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31920" y="2194560"/>
            <a:ext cx="3200400" cy="320040"/>
          </a:xfrm>
          <a:prstGeom prst="roundRect">
            <a:avLst>
              <a:gd name="adj" fmla="val 12000"/>
            </a:avLst>
          </a:prstGeom>
          <a:solidFill>
            <a:srgbClr val="38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41648" y="2249424"/>
            <a:ext cx="29809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微软雅黑"/>
              </a:defRPr>
            </a:pPr>
            <a:r>
              <a:t>部署脚本跑完了，但是好像有个测试没过 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31920" y="2697480"/>
            <a:ext cx="2560320" cy="320040"/>
          </a:xfrm>
          <a:prstGeom prst="roundRect">
            <a:avLst>
              <a:gd name="adj" fmla="val 12000"/>
            </a:avLst>
          </a:prstGeom>
          <a:solidFill>
            <a:srgbClr val="38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41648" y="2752344"/>
            <a:ext cx="2340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微软雅黑"/>
              </a:defRPr>
            </a:pPr>
            <a:r>
              <a:t>错误日志在 /var/log/deploy.log</a:t>
            </a:r>
          </a:p>
        </p:txBody>
      </p:sp>
      <p:sp>
        <p:nvSpPr>
          <p:cNvPr id="47" name="Oval 46"/>
          <p:cNvSpPr/>
          <p:nvPr/>
        </p:nvSpPr>
        <p:spPr>
          <a:xfrm>
            <a:off x="3520440" y="3200400"/>
            <a:ext cx="320040" cy="32004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20440" y="32004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3154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7AFF"/>
                </a:solidFill>
                <a:latin typeface="微软雅黑"/>
              </a:defRPr>
            </a:pPr>
            <a:r>
              <a:t>Bot  10:33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931920" y="3337560"/>
            <a:ext cx="3657600" cy="1188720"/>
          </a:xfrm>
          <a:prstGeom prst="roundRect">
            <a:avLst>
              <a:gd name="adj" fmla="val 4000"/>
            </a:avLst>
          </a:prstGeom>
          <a:solidFill>
            <a:srgbClr val="1E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31920" y="3337560"/>
            <a:ext cx="36576" cy="11887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0" y="3383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7AFF"/>
                </a:solidFill>
                <a:latin typeface="微软雅黑"/>
              </a:defRPr>
            </a:pPr>
            <a:r>
              <a:t>⚡ 预测动作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3611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  <a:latin typeface="微软雅黑"/>
              </a:defRPr>
            </a:pPr>
            <a:r>
              <a:t>检测到部署错误，建议查看日志：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0" y="3886200"/>
            <a:ext cx="932688" cy="292608"/>
          </a:xfrm>
          <a:prstGeom prst="roundRect">
            <a:avLst>
              <a:gd name="adj" fmla="val 30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24528" y="3913632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查看错误日志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760720" y="3886200"/>
            <a:ext cx="713232" cy="292608"/>
          </a:xfrm>
          <a:prstGeom prst="roundRect">
            <a:avLst>
              <a:gd name="adj" fmla="val 3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70448" y="3913632"/>
            <a:ext cx="493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重新部署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040880" y="3886200"/>
            <a:ext cx="493776" cy="292608"/>
          </a:xfrm>
          <a:prstGeom prst="roundRect">
            <a:avLst>
              <a:gd name="adj" fmla="val 30000"/>
            </a:avLst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50608" y="3913632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回滚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20440" y="47548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D4AA"/>
                </a:solidFill>
                <a:latin typeface="微软雅黑"/>
              </a:defRPr>
            </a:pPr>
            <a:r>
              <a:t>💬 耳语建议：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520440" y="4937760"/>
            <a:ext cx="713232" cy="292608"/>
          </a:xfrm>
          <a:prstGeom prst="roundRect">
            <a:avLst>
              <a:gd name="adj" fmla="val 3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30168" y="4965192"/>
            <a:ext cx="493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我来看看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25112" y="4937760"/>
            <a:ext cx="1261872" cy="292608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34840" y="496519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让 Bot 查一下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78424" y="4937760"/>
            <a:ext cx="603503" cy="292608"/>
          </a:xfrm>
          <a:prstGeom prst="roundRect">
            <a:avLst>
              <a:gd name="adj" fmla="val 30000"/>
            </a:avLst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88152" y="4965192"/>
            <a:ext cx="3840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先别急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520440" y="530352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38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0" y="53766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455C"/>
                </a:solidFill>
                <a:latin typeface="微软雅黑"/>
              </a:defRPr>
            </a:pPr>
            <a:r>
              <a:t>输入消息...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0" y="1508760"/>
            <a:ext cx="2286000" cy="4983480"/>
          </a:xfrm>
          <a:prstGeom prst="rect">
            <a:avLst/>
          </a:prstGeom>
          <a:solidFill>
            <a:srgbClr val="1E1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8116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设备状态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235440" y="19659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1E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326880" y="2075688"/>
            <a:ext cx="228600" cy="2286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26880" y="207568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微软雅黑"/>
              </a:defRPr>
            </a:pPr>
            <a:r>
              <a:t>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19488" y="20116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MacBook Pro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19488" y="2194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微软雅黑"/>
              </a:defRPr>
            </a:pPr>
            <a:r>
              <a:t>• 在线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235440" y="256032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1E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326880" y="2670048"/>
            <a:ext cx="228600" cy="2286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26880" y="26700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微软雅黑"/>
              </a:defRPr>
            </a:pPr>
            <a:r>
              <a:t>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19488" y="26060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办公电脑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19488" y="27889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微软雅黑"/>
              </a:defRPr>
            </a:pPr>
            <a:r>
              <a:t>• 离线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81160" y="3337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AI 状态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81160" y="36576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EC0"/>
                </a:solidFill>
                <a:latin typeface="微软雅黑"/>
              </a:defRPr>
            </a:pPr>
            <a:r>
              <a:t>耳语建议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424160" y="36576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4AA"/>
                </a:solidFill>
                <a:latin typeface="微软雅黑"/>
              </a:defRPr>
            </a:pPr>
            <a:r>
              <a:t>已启用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81160" y="3977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EC0"/>
                </a:solidFill>
                <a:latin typeface="微软雅黑"/>
              </a:defRPr>
            </a:pPr>
            <a:r>
              <a:t>草稿模式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424160" y="3977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微软雅黑"/>
              </a:defRPr>
            </a:pPr>
            <a:r>
              <a:t>待确认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8116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EC0"/>
                </a:solidFill>
                <a:latin typeface="微软雅黑"/>
              </a:defRPr>
            </a:pPr>
            <a:r>
              <a:t>预测动作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2416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DE80"/>
                </a:solidFill>
                <a:latin typeface="微软雅黑"/>
              </a:defRPr>
            </a:pPr>
            <a:r>
              <a:t>已启用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Draft &amp; Verify — 草稿即正义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5CF6"/>
                </a:solidFill>
                <a:latin typeface="微软雅黑"/>
              </a:defRPr>
            </a:pPr>
            <a:r>
              <a:t>Bot 永远不自主行动。所有操作必须经过你的确认。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600200"/>
            <a:ext cx="365760" cy="3657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📱 用户下指令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「把桌面的Q3财报</a:t>
            </a:r>
            <a:br/>
            <a:r>
              <a:t>发给王总，写段</a:t>
            </a:r>
            <a:br/>
            <a:r>
              <a:t>得体的话」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2560320"/>
            <a:ext cx="274320" cy="182880"/>
          </a:xfrm>
          <a:prstGeom prst="rightArrow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4630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463040"/>
            <a:ext cx="201168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34640" y="1600200"/>
            <a:ext cx="365760" cy="36576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627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☁ Bot 理解意图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0574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解析意图：</a:t>
            </a:r>
            <a:br/>
            <a:r>
              <a:t>• 读取文件</a:t>
            </a:r>
            <a:br/>
            <a:r>
              <a:t>• 生成文案</a:t>
            </a:r>
            <a:br/>
            <a:r>
              <a:t>• 准备附件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54880" y="2560320"/>
            <a:ext cx="274320" cy="182880"/>
          </a:xfrm>
          <a:prstGeom prst="rightArrow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4630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463040"/>
            <a:ext cx="20116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20640" y="160020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627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🖥 读取桌面文件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0574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远程命令：</a:t>
            </a:r>
            <a:br/>
            <a:r>
              <a:t>cat ~/Desktop/Q3.pdf</a:t>
            </a:r>
            <a:br/>
            <a:r>
              <a:t>→ 获取文件内容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40880" y="2560320"/>
            <a:ext cx="274320" cy="182880"/>
          </a:xfrm>
          <a:prstGeom prst="rightArrow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0" y="14630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1463040"/>
            <a:ext cx="201168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06640" y="1600200"/>
            <a:ext cx="365760" cy="3657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1627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✍ 生成草稿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0574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「王总您好，</a:t>
            </a:r>
            <a:br/>
            <a:r>
              <a:t>附件是Q3财报，</a:t>
            </a:r>
            <a:br/>
            <a:r>
              <a:t>核心数据如下...」</a:t>
            </a:r>
            <a:br/>
            <a:r>
              <a:t>+ Q3.pdf 附件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26880" y="2560320"/>
            <a:ext cx="274320" cy="182880"/>
          </a:xfrm>
          <a:prstGeom prst="rightArrow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0" y="14630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1463040"/>
            <a:ext cx="201168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0" y="1600200"/>
            <a:ext cx="365760" cy="3657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1627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✅ 用户确认发送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05740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草稿出现在输入框</a:t>
            </a:r>
            <a:br/>
            <a:r>
              <a:t>用户检查 →</a:t>
            </a:r>
            <a:br/>
            <a:r>
              <a:t>点击 [发送]</a:t>
            </a:r>
            <a:br/>
            <a:r>
              <a:t>或 [编辑] 或 [取消]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389120"/>
            <a:ext cx="1828800" cy="2194560"/>
          </a:xfrm>
          <a:prstGeom prst="roundRect">
            <a:avLst>
              <a:gd name="adj" fmla="val 8000"/>
            </a:avLst>
          </a:prstGeom>
          <a:solidFill>
            <a:srgbClr val="22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" y="4709160"/>
            <a:ext cx="1645920" cy="1691640"/>
          </a:xfrm>
          <a:prstGeom prst="roundRect">
            <a:avLst>
              <a:gd name="adj" fmla="val 3000"/>
            </a:avLst>
          </a:prstGeom>
          <a:solidFill>
            <a:srgbClr val="1A1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80160" y="4434840"/>
            <a:ext cx="731520" cy="182880"/>
          </a:xfrm>
          <a:prstGeom prst="roundRect">
            <a:avLst>
              <a:gd name="adj" fmla="val 30000"/>
            </a:avLst>
          </a:prstGeom>
          <a:solidFill>
            <a:srgbClr val="11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80160" y="6419088"/>
            <a:ext cx="731520" cy="36576"/>
          </a:xfrm>
          <a:prstGeom prst="roundRect">
            <a:avLst>
              <a:gd name="adj" fmla="val 50000"/>
            </a:avLst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" y="4709160"/>
            <a:ext cx="1645920" cy="1691640"/>
          </a:xfrm>
          <a:prstGeom prst="roundRect">
            <a:avLst>
              <a:gd name="adj" fmla="val 3000"/>
            </a:avLst>
          </a:prstGeom>
          <a:solidFill>
            <a:srgbClr val="1A1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" y="4709160"/>
            <a:ext cx="1645920" cy="274320"/>
          </a:xfrm>
          <a:prstGeom prst="rect">
            <a:avLst/>
          </a:prstGeom>
          <a:solidFill>
            <a:srgbClr val="1E1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74573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←  发给 王总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507492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1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8680" y="5074920"/>
            <a:ext cx="155448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5148072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8B5CF6"/>
                </a:solidFill>
                <a:latin typeface="微软雅黑"/>
              </a:defRPr>
            </a:pPr>
            <a:r>
              <a:t>✍ AI 草稿（点击编辑）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" y="5303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A0AEC0"/>
                </a:solidFill>
                <a:latin typeface="微软雅黑"/>
              </a:defRPr>
            </a:pPr>
            <a:r>
              <a:t>王总您好，附件是Q3</a:t>
            </a:r>
            <a:br/>
            <a:r>
              <a:t>财报，请查收。核心</a:t>
            </a:r>
            <a:br/>
            <a:r>
              <a:t>数据环比增长12%...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760720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D4AA"/>
                </a:solidFill>
                <a:latin typeface="微软雅黑"/>
              </a:defRPr>
            </a:pPr>
            <a:r>
              <a:t>📎 Q3-Report.pdf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6080760"/>
            <a:ext cx="487680" cy="228600"/>
          </a:xfrm>
          <a:prstGeom prst="roundRect">
            <a:avLst>
              <a:gd name="adj" fmla="val 10000"/>
            </a:avLst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6099048"/>
            <a:ext cx="48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微软雅黑"/>
              </a:defRPr>
            </a:pPr>
            <a:r>
              <a:t>取消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02080" y="6080760"/>
            <a:ext cx="487680" cy="228600"/>
          </a:xfrm>
          <a:prstGeom prst="roundRect">
            <a:avLst>
              <a:gd name="adj" fmla="val 10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02080" y="6099048"/>
            <a:ext cx="48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微软雅黑"/>
              </a:defRPr>
            </a:pPr>
            <a:r>
              <a:t>编辑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35480" y="6080760"/>
            <a:ext cx="487680" cy="228600"/>
          </a:xfrm>
          <a:prstGeom prst="roundRect">
            <a:avLst>
              <a:gd name="adj" fmla="val 1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35480" y="6099048"/>
            <a:ext cx="48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微软雅黑"/>
              </a:defRPr>
            </a:pPr>
            <a:r>
              <a:t>发送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0" y="4389120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0" y="4389120"/>
            <a:ext cx="4114800" cy="27432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8328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A5A"/>
                </a:solidFill>
                <a:latin typeface="微软雅黑"/>
              </a:defRPr>
            </a:pPr>
            <a:r>
              <a:t>❌ 传统 AI 助手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83280" y="4800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用户: 「发财报给王总」</a:t>
            </a:r>
            <a:br/>
            <a:r>
              <a:t>AI: 已发送！✅</a:t>
            </a:r>
            <a:br/>
            <a:br/>
            <a:r>
              <a:t>用户: 等等...我还没看内容...</a:t>
            </a:r>
            <a:br/>
            <a:r>
              <a:t>用户: 发错文件了怎么办？！</a:t>
            </a:r>
            <a:br/>
            <a:br/>
            <a:r>
              <a:t>❌ AI 自作主张 → 无法撤回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89520" y="4389120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589520" y="4389120"/>
            <a:ext cx="41148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微软雅黑"/>
              </a:defRPr>
            </a:pPr>
            <a:r>
              <a:t>✅ LinkingChat 草稿模式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4800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用户: 「发财报给王总」</a:t>
            </a:r>
            <a:br/>
            <a:r>
              <a:t>Bot: 我准备好了草稿 ✍</a:t>
            </a:r>
            <a:br/>
            <a:r>
              <a:t>       [查看] [编辑] [发送]</a:t>
            </a:r>
            <a:br/>
            <a:br/>
            <a:r>
              <a:t>用户: 改一下措辞... 好，发送！</a:t>
            </a:r>
            <a:br/>
            <a:br/>
            <a:r>
              <a:t>✅ 用户掌控一切 → 安心放心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The Whisper — 耳语建议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AA"/>
                </a:solidFill>
                <a:latin typeface="微软雅黑"/>
              </a:defRPr>
            </a:pPr>
            <a:r>
              <a:t>Bot 不抢话，只在耳边轻语三个选项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188720"/>
            <a:ext cx="3657600" cy="5303520"/>
          </a:xfrm>
          <a:prstGeom prst="roundRect">
            <a:avLst>
              <a:gd name="adj" fmla="val 8000"/>
            </a:avLst>
          </a:prstGeom>
          <a:solidFill>
            <a:srgbClr val="22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06240" y="1508760"/>
            <a:ext cx="3474720" cy="4800600"/>
          </a:xfrm>
          <a:prstGeom prst="roundRect">
            <a:avLst>
              <a:gd name="adj" fmla="val 3000"/>
            </a:avLst>
          </a:prstGeom>
          <a:solidFill>
            <a:srgbClr val="1A1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577840" y="1234440"/>
            <a:ext cx="731520" cy="182880"/>
          </a:xfrm>
          <a:prstGeom prst="roundRect">
            <a:avLst>
              <a:gd name="adj" fmla="val 30000"/>
            </a:avLst>
          </a:prstGeom>
          <a:solidFill>
            <a:srgbClr val="11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77840" y="6327648"/>
            <a:ext cx="731520" cy="36576"/>
          </a:xfrm>
          <a:prstGeom prst="roundRect">
            <a:avLst>
              <a:gd name="adj" fmla="val 50000"/>
            </a:avLst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508760"/>
            <a:ext cx="3474720" cy="4800600"/>
          </a:xfrm>
          <a:prstGeom prst="roundRect">
            <a:avLst>
              <a:gd name="adj" fmla="val 2000"/>
            </a:avLst>
          </a:prstGeom>
          <a:solidFill>
            <a:srgbClr val="1A1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508760"/>
            <a:ext cx="3474720" cy="457200"/>
          </a:xfrm>
          <a:prstGeom prst="rect">
            <a:avLst/>
          </a:prstGeom>
          <a:solidFill>
            <a:srgbClr val="1E1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00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←  小红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1600200"/>
            <a:ext cx="274320" cy="2743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7680" y="2148840"/>
            <a:ext cx="365760" cy="365760"/>
          </a:xfrm>
          <a:prstGeom prst="ellipse">
            <a:avLst/>
          </a:prstGeom>
          <a:solidFill>
            <a:srgbClr val="F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031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小红  18:42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286000"/>
            <a:ext cx="2011680" cy="320040"/>
          </a:xfrm>
          <a:prstGeom prst="roundRect">
            <a:avLst>
              <a:gd name="adj" fmla="val 12000"/>
            </a:avLst>
          </a:prstGeom>
          <a:solidFill>
            <a:srgbClr val="38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8" y="2340864"/>
            <a:ext cx="1792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微软雅黑"/>
              </a:defRPr>
            </a:pPr>
            <a:r>
              <a:t>今晚约饭吗？好久没聚了 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788920"/>
            <a:ext cx="2286000" cy="320040"/>
          </a:xfrm>
          <a:prstGeom prst="roundRect">
            <a:avLst>
              <a:gd name="adj" fmla="val 12000"/>
            </a:avLst>
          </a:prstGeom>
          <a:solidFill>
            <a:srgbClr val="38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2843784"/>
            <a:ext cx="20665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微软雅黑"/>
              </a:defRPr>
            </a:pPr>
            <a:r>
              <a:t>新开了一家日料，评分超高的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291840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38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3346704"/>
            <a:ext cx="11521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微软雅黑"/>
              </a:defRPr>
            </a:pPr>
            <a:r>
              <a:t>就在你公司楼下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7490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微软雅黑"/>
              </a:defRPr>
            </a:pPr>
            <a:r>
              <a:t>18:43  ✔✔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995928"/>
            <a:ext cx="3291840" cy="86868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0690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AA"/>
                </a:solidFill>
                <a:latin typeface="微软雅黑"/>
              </a:defRPr>
            </a:pPr>
            <a:r>
              <a:t>💬 Bot 耳语建议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297680"/>
            <a:ext cx="960120" cy="411480"/>
          </a:xfrm>
          <a:prstGeom prst="roundRect">
            <a:avLst>
              <a:gd name="adj" fmla="val 12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43525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好啊！几点？😊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0679" y="4297680"/>
            <a:ext cx="960120" cy="411480"/>
          </a:xfrm>
          <a:prstGeom prst="roundRect">
            <a:avLst>
              <a:gd name="adj" fmla="val 12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13831" y="43525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今晚加班 😢 改天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297680"/>
            <a:ext cx="960120" cy="411480"/>
          </a:xfrm>
          <a:prstGeom prst="roundRect">
            <a:avLst>
              <a:gd name="adj" fmla="val 12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3525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日料！在哪里？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800600"/>
            <a:ext cx="3291840" cy="411480"/>
          </a:xfrm>
          <a:prstGeom prst="roundRect">
            <a:avLst>
              <a:gd name="adj" fmla="val 10000"/>
            </a:avLst>
          </a:prstGeom>
          <a:solidFill>
            <a:srgbClr val="38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8737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455C"/>
                </a:solidFill>
                <a:latin typeface="微软雅黑"/>
              </a:defRPr>
            </a:pPr>
            <a:r>
              <a:t>输入消息...</a:t>
            </a:r>
          </a:p>
        </p:txBody>
      </p:sp>
      <p:sp>
        <p:nvSpPr>
          <p:cNvPr id="32" name="Oval 31"/>
          <p:cNvSpPr/>
          <p:nvPr/>
        </p:nvSpPr>
        <p:spPr>
          <a:xfrm>
            <a:off x="7178040" y="4864608"/>
            <a:ext cx="292608" cy="292608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48646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B5"/>
                </a:solidFill>
                <a:latin typeface="微软雅黑"/>
              </a:defRPr>
            </a:pPr>
            <a:r>
              <a:t>① 收到消息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好友发来消息</a:t>
            </a:r>
            <a:br/>
            <a:r>
              <a:t>Bot 在后台静默分析...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微软雅黑"/>
              </a:defRPr>
            </a:pPr>
            <a:r>
              <a:t>② &lt; 800ms 出建议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931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LLM (DeepSeek) 分析语境</a:t>
            </a:r>
            <a:br/>
            <a:r>
              <a:t>生成 3 个回复建议</a:t>
            </a:r>
            <a:br/>
            <a:r>
              <a:t>以气泡形式悬浮在输入框上方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微软雅黑"/>
              </a:defRPr>
            </a:pPr>
            <a:r>
              <a:t>③ 用户选择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点击 → 填入输入框</a:t>
            </a:r>
            <a:br/>
            <a:r>
              <a:t>长按 → 直接发送</a:t>
            </a:r>
            <a:br/>
            <a:r>
              <a:t>忽略 → 自己打字</a:t>
            </a:r>
            <a:br/>
            <a:br/>
            <a:r>
              <a:t>完全不打扰，只是轻轻提示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A5A"/>
                </a:solidFill>
                <a:latin typeface="微软雅黑"/>
              </a:defRPr>
            </a:pPr>
            <a:r>
              <a:t>&gt; 1000ms？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超时就不显示了。</a:t>
            </a:r>
            <a:br/>
            <a:r>
              <a:t>宁可没有，也不要迟到的建议。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系统架构全景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微软雅黑"/>
              </a:defRPr>
            </a:pPr>
            <a:r>
              <a:t>三端 + 双通道 + AI 引擎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28600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22860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微软雅黑"/>
              </a:defRPr>
            </a:pPr>
            <a:r>
              <a:t>📱 手机端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Flutter / React Native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920240" cy="50292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786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社交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1920240" cy="50292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3182112"/>
            <a:ext cx="347472" cy="347472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821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186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设备遥控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1920240" cy="50292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3822191"/>
            <a:ext cx="347472" cy="3474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2219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5876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草稿确认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1920240" cy="50292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4462272"/>
            <a:ext cx="347472" cy="34747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622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988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耳语建议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1371600"/>
            <a:ext cx="5212080" cy="47548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0" y="1371600"/>
            <a:ext cx="5212080" cy="457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39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7AFF"/>
                </a:solidFill>
                <a:latin typeface="微软雅黑"/>
              </a:defRPr>
            </a:pPr>
            <a:r>
              <a:t>☁ 云端大脑 — NestJS + Prisma + PostgreSQL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2011680"/>
            <a:ext cx="2286000" cy="41148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20756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微软雅黑"/>
              </a:defRPr>
            </a:pPr>
            <a:r>
              <a:t>⚡ WebSocket 网关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2578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  /chat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081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  /device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49039" y="3520440"/>
            <a:ext cx="2286000" cy="41148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35844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A5A"/>
                </a:solidFill>
                <a:latin typeface="微软雅黑"/>
              </a:defRPr>
            </a:pPr>
            <a:r>
              <a:t>🔒 认证中心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087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  JWT RS256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2011680"/>
            <a:ext cx="2286000" cy="41148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0574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消息管道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2128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7AFF"/>
                </a:solidFill>
                <a:latin typeface="Consolas"/>
              </a:defRPr>
            </a:pPr>
            <a:r>
              <a:t>Converse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2514600"/>
            <a:ext cx="2286000" cy="41148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5603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好友系统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271576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Consolas"/>
              </a:defRPr>
            </a:pPr>
            <a:r>
              <a:t>Friend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017520"/>
            <a:ext cx="2286000" cy="41148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0632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群组管理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2186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5CF6"/>
                </a:solidFill>
                <a:latin typeface="Consolas"/>
              </a:defRPr>
            </a:pPr>
            <a:r>
              <a:t>Group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520440"/>
            <a:ext cx="2286000" cy="41148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5661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设备控制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72160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8C42"/>
                </a:solidFill>
                <a:latin typeface="Consolas"/>
              </a:defRPr>
            </a:pPr>
            <a:r>
              <a:t>Device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023360"/>
            <a:ext cx="2286000" cy="41148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0690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AI 引擎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422452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D700"/>
                </a:solidFill>
                <a:latin typeface="Consolas"/>
              </a:defRPr>
            </a:pPr>
            <a:r>
              <a:t>LLM Router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49039" y="4663440"/>
            <a:ext cx="4754880" cy="59436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931920" y="4773168"/>
            <a:ext cx="365760" cy="36576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0" y="4773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4340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7AFF"/>
                </a:solidFill>
                <a:latin typeface="微软雅黑"/>
              </a:defRPr>
            </a:pPr>
            <a:r>
              <a:t>PostgreSQL</a:t>
            </a:r>
          </a:p>
        </p:txBody>
      </p:sp>
      <p:sp>
        <p:nvSpPr>
          <p:cNvPr id="53" name="Oval 52"/>
          <p:cNvSpPr/>
          <p:nvPr/>
        </p:nvSpPr>
        <p:spPr>
          <a:xfrm>
            <a:off x="5532120" y="4773168"/>
            <a:ext cx="365760" cy="365760"/>
          </a:xfrm>
          <a:prstGeom prst="ellipse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32120" y="4773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A5A"/>
                </a:solidFill>
                <a:latin typeface="微软雅黑"/>
              </a:defRPr>
            </a:pPr>
            <a:r>
              <a:t>Redis</a:t>
            </a:r>
          </a:p>
        </p:txBody>
      </p:sp>
      <p:sp>
        <p:nvSpPr>
          <p:cNvPr id="56" name="Oval 55"/>
          <p:cNvSpPr/>
          <p:nvPr/>
        </p:nvSpPr>
        <p:spPr>
          <a:xfrm>
            <a:off x="7132320" y="4773168"/>
            <a:ext cx="365760" cy="3657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0" y="4773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42"/>
                </a:solidFill>
                <a:latin typeface="微软雅黑"/>
              </a:defRPr>
            </a:pPr>
            <a:r>
              <a:t>MinIO (S3)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01200" y="1645920"/>
            <a:ext cx="228600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601200" y="1645920"/>
            <a:ext cx="22860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8408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微软雅黑"/>
              </a:defRPr>
            </a:pPr>
            <a:r>
              <a:t>🖥 桌面端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80" y="214884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Electron + TypeScript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84080" y="2468880"/>
            <a:ext cx="1920240" cy="50292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875520" y="2542032"/>
            <a:ext cx="347472" cy="347472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75520" y="25420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32720" y="25786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社交 UI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784080" y="3108960"/>
            <a:ext cx="1920240" cy="50292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875520" y="3182112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75520" y="31821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32720" y="32186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Shell 执行器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84080" y="3749039"/>
            <a:ext cx="1920240" cy="50292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75520" y="3822191"/>
            <a:ext cx="347472" cy="347472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75520" y="382219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📁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32720" y="385876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文件操作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784080" y="4389120"/>
            <a:ext cx="1920240" cy="502920"/>
          </a:xfrm>
          <a:prstGeom prst="roundRect">
            <a:avLst>
              <a:gd name="adj" fmla="val 6000"/>
            </a:avLst>
          </a:prstGeom>
          <a:solidFill>
            <a:srgbClr val="2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875520" y="4462272"/>
            <a:ext cx="347472" cy="3474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75520" y="44622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🤖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32720" y="44988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OpenClaw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2560320" y="2560320"/>
            <a:ext cx="914400" cy="22860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560320" y="2331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AA"/>
                </a:solidFill>
                <a:latin typeface="Consolas"/>
              </a:defRPr>
            </a:pPr>
            <a:r>
              <a:t>WSS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2560320" y="4114800"/>
            <a:ext cx="914400" cy="228600"/>
          </a:xfrm>
          <a:prstGeom prst="rightArrow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560320" y="43708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42"/>
                </a:solidFill>
                <a:latin typeface="Consolas"/>
              </a:defRPr>
            </a:pPr>
            <a:r>
              <a:t>/device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8686800" y="2560320"/>
            <a:ext cx="914400" cy="228600"/>
          </a:xfrm>
          <a:prstGeom prst="rightArrow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86800" y="2331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87AFF"/>
                </a:solidFill>
                <a:latin typeface="Consolas"/>
              </a:defRPr>
            </a:pPr>
            <a:r>
              <a:t>WSS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8686800" y="4114800"/>
            <a:ext cx="914400" cy="22860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86800" y="43708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Consolas"/>
              </a:defRPr>
            </a:pPr>
            <a:r>
              <a:t>/device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114800" y="5486400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114800" y="5486400"/>
            <a:ext cx="39319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9768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微软雅黑"/>
              </a:defRPr>
            </a:pPr>
            <a:r>
              <a:t>🧠 AI 引擎 — 多 LLM 路由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97680" y="58978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微软雅黑"/>
              </a:defRPr>
            </a:pPr>
            <a:r>
              <a:t>DeepSeek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97680" y="60807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EC0"/>
                </a:solidFill>
                <a:latin typeface="微软雅黑"/>
              </a:defRPr>
            </a:pPr>
            <a:r>
              <a:t>快速 / 低成本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77840" y="58978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微软雅黑"/>
              </a:defRPr>
            </a:pPr>
            <a:r>
              <a:t>Kimi 2.5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77840" y="60807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EC0"/>
                </a:solidFill>
                <a:latin typeface="微软雅黑"/>
              </a:defRPr>
            </a:pPr>
            <a:r>
              <a:t>复杂推理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0" y="58978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微软雅黑"/>
              </a:defRPr>
            </a:pPr>
            <a:r>
              <a:t>可扩展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58000" y="60807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EC0"/>
                </a:solidFill>
                <a:latin typeface="微软雅黑"/>
              </a:defRPr>
            </a:pPr>
            <a:r>
              <a:t>更多 Provider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数据流：发送一条消息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微软雅黑"/>
              </a:defRPr>
            </a:pPr>
            <a:r>
              <a:t>REST 写入 + WebSocket 广播 — 数据一致性优先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📱  发送者（小明）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☁  云端大脑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37160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🖥  接收者（小红）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2011680"/>
            <a:ext cx="36576" cy="4114800"/>
          </a:xfrm>
          <a:prstGeom prst="rect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2011680"/>
            <a:ext cx="36576" cy="4114800"/>
          </a:xfrm>
          <a:prstGeom prst="rect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52760" y="2011680"/>
            <a:ext cx="36576" cy="4114800"/>
          </a:xfrm>
          <a:prstGeom prst="rect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1600200" y="2286000"/>
            <a:ext cx="4389120" cy="18288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011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D4AA"/>
                </a:solidFill>
                <a:latin typeface="Consolas"/>
              </a:defRPr>
            </a:pPr>
            <a:r>
              <a:t>POST /api/v1/messages</a:t>
            </a:r>
            <a:br/>
            <a:r>
              <a:t>{ content: 'Hello!'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834640"/>
            <a:ext cx="2286000" cy="457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834640"/>
            <a:ext cx="36576" cy="4572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880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87AFF"/>
                </a:solidFill>
                <a:latin typeface="Consolas"/>
              </a:defRPr>
            </a:pPr>
            <a:r>
              <a:t>INSERT INTO messages</a:t>
            </a:r>
            <a:br/>
            <a:r>
              <a:t>UPDATE converse_members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1600200" y="3474720"/>
            <a:ext cx="4389120" cy="182880"/>
          </a:xfrm>
          <a:prstGeom prst="lef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3200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  <a:latin typeface="Consolas"/>
              </a:defRPr>
            </a:pPr>
            <a:r>
              <a:t>201 { message }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72200" y="4023360"/>
            <a:ext cx="4389120" cy="18288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3749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B5CF6"/>
                </a:solidFill>
                <a:latin typeface="Consolas"/>
              </a:defRPr>
            </a:pPr>
            <a:r>
              <a:t>WS: message:new</a:t>
            </a:r>
            <a:br/>
            <a:r>
              <a:t>→ {converseId} 房间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1600200" y="4572000"/>
            <a:ext cx="4389120" cy="182880"/>
          </a:xfrm>
          <a:prstGeom prst="lef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4297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D4AA"/>
                </a:solidFill>
                <a:latin typeface="Consolas"/>
              </a:defRPr>
            </a:pPr>
            <a:r>
              <a:t>WS: message:new</a:t>
            </a:r>
            <a:br/>
            <a:r>
              <a:t>(也在房间里)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172200" y="5120640"/>
            <a:ext cx="4389120" cy="182880"/>
          </a:xfrm>
          <a:prstGeom prst="rightArrow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4846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8C42"/>
                </a:solidFill>
                <a:latin typeface="Consolas"/>
              </a:defRPr>
            </a:pPr>
            <a:r>
              <a:t>WS: notification:new</a:t>
            </a:r>
            <a:br/>
            <a:r>
              <a:t>(如果不在房间)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核心原则：REST 写入保证数据持久化 → WebSocket 广播保证实时推送 → 两者解耦，各司其职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数据流：远程执行命令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微软雅黑"/>
              </a:defRPr>
            </a:pPr>
            <a:r>
              <a:t>手机发 → 云端验证转发 → 桌面执行 → 结果原路返回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📱  手机端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☁  云端大脑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37160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🖥  桌面端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2011680"/>
            <a:ext cx="36576" cy="4114800"/>
          </a:xfrm>
          <a:prstGeom prst="rect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2011680"/>
            <a:ext cx="36576" cy="4114800"/>
          </a:xfrm>
          <a:prstGeom prst="rect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52760" y="2011680"/>
            <a:ext cx="36576" cy="4114800"/>
          </a:xfrm>
          <a:prstGeom prst="rect">
            <a:avLst/>
          </a:prstGeom>
          <a:solidFill>
            <a:srgbClr val="3A4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1600200" y="2267712"/>
            <a:ext cx="4389120" cy="164592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0299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D4AA"/>
                </a:solidFill>
                <a:latin typeface="Consolas"/>
              </a:defRPr>
            </a:pPr>
            <a:r>
              <a:t>device:command:send</a:t>
            </a:r>
            <a:br/>
            <a:r>
              <a:t>{ action: 'git status'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43200"/>
            <a:ext cx="2286000" cy="4114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743200"/>
            <a:ext cx="36576" cy="41148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7706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87AFF"/>
                </a:solidFill>
                <a:latin typeface="Consolas"/>
              </a:defRPr>
            </a:pPr>
            <a:r>
              <a:t>黑名单检查 ✓</a:t>
            </a:r>
            <a:br/>
            <a:r>
              <a:t>INSERT commands (PENDING)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72200" y="3364992"/>
            <a:ext cx="4389120" cy="164592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31272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B5CF6"/>
                </a:solidFill>
                <a:latin typeface="Consolas"/>
              </a:defRPr>
            </a:pPr>
            <a:r>
              <a:t>device:command:execute</a:t>
            </a:r>
            <a:br/>
            <a:r>
              <a:t>→ d-{deviceId}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1600200" y="3364992"/>
            <a:ext cx="4389120" cy="164592"/>
          </a:xfrm>
          <a:prstGeom prst="lef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31272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  <a:latin typeface="Consolas"/>
              </a:defRPr>
            </a:pPr>
            <a:r>
              <a:t>ACK: { commandId,</a:t>
            </a:r>
            <a:br/>
            <a:r>
              <a:t>  status: dispatched 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3931920"/>
            <a:ext cx="2286000" cy="4114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744200" y="3931920"/>
            <a:ext cx="36576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0" y="39593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5CF6"/>
                </a:solidFill>
                <a:latin typeface="Consolas"/>
              </a:defRPr>
            </a:pPr>
            <a:r>
              <a:t>child_process.exec()</a:t>
            </a:r>
            <a:br/>
            <a:r>
              <a:t>执行 git status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6172200" y="4553712"/>
            <a:ext cx="4389120" cy="164592"/>
          </a:xfrm>
          <a:prstGeom prst="leftArrow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43159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8C42"/>
                </a:solidFill>
                <a:latin typeface="Consolas"/>
              </a:defRPr>
            </a:pPr>
            <a:r>
              <a:t>device:result:complete</a:t>
            </a:r>
            <a:br/>
            <a:r>
              <a:t>{ output: '...' 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5029200"/>
            <a:ext cx="2286000" cy="4114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5029200"/>
            <a:ext cx="36576" cy="41148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0566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87AFF"/>
                </a:solidFill>
                <a:latin typeface="Consolas"/>
              </a:defRPr>
            </a:pPr>
            <a:r>
              <a:t>UPDATE commands</a:t>
            </a:r>
            <a:br/>
            <a:r>
              <a:t>status = COMPLETED</a:t>
            </a:r>
          </a:p>
        </p:txBody>
      </p:sp>
      <p:sp>
        <p:nvSpPr>
          <p:cNvPr id="30" name="Left Arrow 29"/>
          <p:cNvSpPr/>
          <p:nvPr/>
        </p:nvSpPr>
        <p:spPr>
          <a:xfrm>
            <a:off x="1600200" y="5650992"/>
            <a:ext cx="4389120" cy="164592"/>
          </a:xfrm>
          <a:prstGeom prst="lef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54132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  <a:latin typeface="Consolas"/>
              </a:defRPr>
            </a:pPr>
            <a:r>
              <a:t>device:result:delivered</a:t>
            </a:r>
            <a:br/>
            <a:r>
              <a:t>手机显示结果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AA"/>
                </a:solidFill>
                <a:latin typeface="微软雅黑"/>
              </a:defRPr>
            </a:pPr>
            <a:r>
              <a:t>全链路 &lt; 3秒  |  危险命令自动拦截  |  所有操作记录可追溯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产品功能全景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微软雅黑"/>
              </a:defRPr>
            </a:pPr>
            <a:r>
              <a:t>从 Sprint 1 到完整产品 — 每个阶段都是可用的产品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560320" cy="457200"/>
          </a:xfrm>
          <a:prstGeom prst="roundRect">
            <a:avLst>
              <a:gd name="adj" fmla="val 3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功能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90672" y="1280160"/>
            <a:ext cx="1097280" cy="457200"/>
          </a:xfrm>
          <a:prstGeom prst="roundRect">
            <a:avLst>
              <a:gd name="adj" fmla="val 3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82112" y="13533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📱 手机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1104" y="1280160"/>
            <a:ext cx="1097280" cy="457200"/>
          </a:xfrm>
          <a:prstGeom prst="roundRect">
            <a:avLst>
              <a:gd name="adj" fmla="val 3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2544" y="13533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🖥 桌面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31536" y="1280160"/>
            <a:ext cx="1097280" cy="457200"/>
          </a:xfrm>
          <a:prstGeom prst="roundRect">
            <a:avLst>
              <a:gd name="adj" fmla="val 3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13533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☁ 云端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1968" y="1280160"/>
            <a:ext cx="1097280" cy="457200"/>
          </a:xfrm>
          <a:prstGeom prst="roundRect">
            <a:avLst>
              <a:gd name="adj" fmla="val 3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13533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阶段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10512"/>
            <a:ext cx="256032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470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远程执行 Shell 命令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90672" y="181051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2112" y="18470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1104" y="181051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18470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1536" y="181051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22976" y="18470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81051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18470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ADE80"/>
                </a:solidFill>
                <a:latin typeface="微软雅黑"/>
              </a:defRPr>
            </a:pPr>
            <a:r>
              <a:t>Sprint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130552"/>
            <a:ext cx="256032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1671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设备在线状态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0672" y="213055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82112" y="21671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1104" y="213055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21671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31536" y="213055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22976" y="21671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01968" y="213055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8" y="21671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ADE80"/>
                </a:solidFill>
                <a:latin typeface="微软雅黑"/>
              </a:defRPr>
            </a:pPr>
            <a:r>
              <a:t>Sprint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450591"/>
            <a:ext cx="256032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2487167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危险命令拦截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90672" y="2450591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82112" y="248716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A455C"/>
                </a:solidFill>
                <a:latin typeface="微软雅黑"/>
              </a:defRPr>
            </a:pPr>
            <a:r>
              <a:t>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2450591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52544" y="248716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A455C"/>
                </a:solidFill>
                <a:latin typeface="微软雅黑"/>
              </a:defRPr>
            </a:pPr>
            <a:r>
              <a:t>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31536" y="2450591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22976" y="248716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01968" y="2450591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3408" y="248716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ADE80"/>
                </a:solidFill>
                <a:latin typeface="微软雅黑"/>
              </a:defRPr>
            </a:pPr>
            <a:r>
              <a:t>Sprint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770632"/>
            <a:ext cx="256032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28072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注册 / 登录 / JWT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90672" y="277063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82112" y="28072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61104" y="277063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52544" y="28072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31536" y="277063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22976" y="28072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01968" y="277063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93408" y="28072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ADE80"/>
                </a:solidFill>
                <a:latin typeface="微软雅黑"/>
              </a:defRPr>
            </a:pPr>
            <a:r>
              <a:t>Sprint 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090672"/>
            <a:ext cx="256032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31272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私聊 (DM)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90672" y="309067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82112" y="31272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61104" y="309067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52544" y="31272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1536" y="309067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22976" y="31272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01968" y="309067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93408" y="31272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AA"/>
                </a:solidFill>
                <a:latin typeface="微软雅黑"/>
              </a:defRPr>
            </a:pPr>
            <a:r>
              <a:t>Sprint 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410712"/>
            <a:ext cx="256032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34472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好友系统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90672" y="341071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82112" y="34472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61104" y="341071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52544" y="34472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31536" y="341071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22976" y="34472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01968" y="341071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93408" y="34472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AA"/>
                </a:solidFill>
                <a:latin typeface="微软雅黑"/>
              </a:defRPr>
            </a:pPr>
            <a:r>
              <a:t>Sprint 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3730752"/>
            <a:ext cx="256032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3767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群组 + 频道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90672" y="373075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82112" y="3767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61104" y="373075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52544" y="3767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31536" y="373075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22976" y="3767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01968" y="373075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93408" y="3767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AA"/>
                </a:solidFill>
                <a:latin typeface="微软雅黑"/>
              </a:defRPr>
            </a:pPr>
            <a:r>
              <a:t>Sprint 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4050791"/>
            <a:ext cx="256032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8640" y="4087367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消息撤回 / 已读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090672" y="4050791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82112" y="408736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61104" y="4050791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352544" y="408736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31536" y="4050791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22976" y="408736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01968" y="4050791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693408" y="408736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AA"/>
                </a:solidFill>
                <a:latin typeface="微软雅黑"/>
              </a:defRPr>
            </a:pPr>
            <a:r>
              <a:t>Sprint 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4370831"/>
            <a:ext cx="256032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48640" y="4407407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OpenClaw 沙箱执行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90672" y="4370831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182112" y="440740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A455C"/>
                </a:solidFill>
                <a:latin typeface="微软雅黑"/>
              </a:defRPr>
            </a:pPr>
            <a:r>
              <a:t>─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61104" y="4370831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52544" y="440740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31536" y="4370831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522976" y="440740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601968" y="4370831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693408" y="440740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AA"/>
                </a:solidFill>
                <a:latin typeface="微软雅黑"/>
              </a:defRPr>
            </a:pPr>
            <a:r>
              <a:t>Sprint 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57200" y="4690872"/>
            <a:ext cx="256032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48640" y="47274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耳语建议 (&lt; 800ms)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090672" y="469087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182112" y="47274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261104" y="469087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352544" y="47274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31536" y="469087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522976" y="47274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601968" y="469087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693408" y="47274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微软雅黑"/>
              </a:defRPr>
            </a:pPr>
            <a:r>
              <a:t>Sprint 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7200" y="5010912"/>
            <a:ext cx="256032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48640" y="50474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草稿确认 (Draft &amp; Verify)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090672" y="501091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182112" y="50474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261104" y="501091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352544" y="50474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31536" y="501091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522976" y="50474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601968" y="501091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693408" y="50474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微软雅黑"/>
              </a:defRPr>
            </a:pPr>
            <a:r>
              <a:t>Sprint 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57200" y="5330952"/>
            <a:ext cx="256032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8640" y="53675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预测执行 (Predictive)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90672" y="533095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182112" y="5367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261104" y="533095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352544" y="5367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431536" y="533095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522976" y="5367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601968" y="5330952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693408" y="5367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微软雅黑"/>
              </a:defRPr>
            </a:pPr>
            <a:r>
              <a:t>Sprint 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57200" y="5650992"/>
            <a:ext cx="256032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48640" y="56875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文件传输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090672" y="565099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182112" y="56875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261104" y="565099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352544" y="56875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431536" y="565099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522976" y="56875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601968" y="5650992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693408" y="56875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微软雅黑"/>
              </a:defRPr>
            </a:pPr>
            <a:r>
              <a:t>未来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57200" y="5971031"/>
            <a:ext cx="256032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48640" y="6007607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语音/视频通话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090672" y="5971031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182112" y="600760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261104" y="5971031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352544" y="600760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431536" y="5971031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522976" y="600760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601968" y="5971031"/>
            <a:ext cx="1097280" cy="301752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693408" y="600760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微软雅黑"/>
              </a:defRPr>
            </a:pPr>
            <a:r>
              <a:t>未来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57200" y="6291071"/>
            <a:ext cx="256032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48640" y="6327647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插件系统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090672" y="6291071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182112" y="632764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A455C"/>
                </a:solidFill>
                <a:latin typeface="微软雅黑"/>
              </a:defRPr>
            </a:pPr>
            <a:r>
              <a:t>─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261104" y="6291071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352544" y="632764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431536" y="6291071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522976" y="632764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601968" y="6291071"/>
            <a:ext cx="1097280" cy="301752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693408" y="632764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微软雅黑"/>
              </a:defRPr>
            </a:pPr>
            <a:r>
              <a:t>未来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7724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✅ 支持    ─ 不适用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457200"/>
            <a:ext cx="7315200" cy="7315200"/>
          </a:xfrm>
          <a:prstGeom prst="ellipse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2103120" cy="54864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你的 Bot</a:t>
            </a:r>
            <a:br/>
            <a:r>
              <a:t>不是替代你，而是站在你身后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AA"/>
                </a:solidFill>
                <a:latin typeface="微软雅黑"/>
              </a:defRPr>
            </a:pPr>
            <a:r>
              <a:t>它帮你草拟，你来决定发不发送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5CF6"/>
                </a:solidFill>
                <a:latin typeface="微软雅黑"/>
              </a:defRPr>
            </a:pPr>
            <a:r>
              <a:t>它帮你预判，你来决定做不做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8C42"/>
                </a:solidFill>
                <a:latin typeface="微软雅黑"/>
              </a:defRPr>
            </a:pPr>
            <a:r>
              <a:t>它帮你执行，你来决定在哪执行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5212080"/>
            <a:ext cx="2103120" cy="54864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微软雅黑"/>
              </a:defRPr>
            </a:pPr>
            <a:r>
              <a:t>LinkingChat — 聊天即指令，好友即接口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A455C"/>
                </a:solidFill>
                <a:latin typeface="Consolas"/>
              </a:defRPr>
            </a:pPr>
            <a:r>
              <a:t>github.com/ZenoWangzy/linkingChat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