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Microsoft YaHei"/>
              </a:rP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EDE8"/>
                </a:solidFill>
                <a:latin typeface="Microsoft YaHei"/>
              </a:rPr>
              <a:t>产品视觉 -- 架构与流程图解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904" y="3840480"/>
            <a:ext cx="182880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79EBE"/>
                </a:solidFill>
                <a:latin typeface="Microsoft YaHei"/>
              </a:rPr>
              <a:t>Ghost Mate  |  Technical Visual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Cloud Brain + Local Hands -- 三端协同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3383280" cy="41148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7021"/>
                </a:solidFill>
                <a:latin typeface="Microsoft YaHei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79EBE"/>
                </a:solidFill>
                <a:latin typeface="Microsoft YaHei"/>
              </a:rPr>
              <a:t>Flutter  |  遥控器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265176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社交界面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远程指令发送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草稿确认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结果查看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7021"/>
                </a:solidFill>
                <a:latin typeface="Microsoft YaHei"/>
              </a:rPr>
              <a:t>Cloud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79EBE"/>
                </a:solidFill>
                <a:latin typeface="Microsoft YaHei"/>
              </a:rPr>
              <a:t>NestJS  |  中枢大脑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88920"/>
            <a:ext cx="265176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WebSocket Gateway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Intent Planner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LLM Router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Draft State Machine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OpenClaw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3383280" cy="41148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7021"/>
                </a:solidFill>
                <a:latin typeface="Microsoft YaHei"/>
              </a:rPr>
              <a:t>Desktop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79EBE"/>
                </a:solidFill>
                <a:latin typeface="Microsoft YaHei"/>
              </a:rPr>
              <a:t>Electron  |  执行者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017520"/>
            <a:ext cx="265176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社交聊天 UI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OpenClaw Worker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Shell Executor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文件操作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3886200" y="3566160"/>
            <a:ext cx="457200" cy="365760"/>
          </a:xfrm>
          <a:prstGeom prst="left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39776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79EBE"/>
                </a:solidFill>
                <a:latin typeface="Microsoft YaHei"/>
              </a:rPr>
              <a:t>WSS</a:t>
            </a:r>
          </a:p>
        </p:txBody>
      </p:sp>
      <p:sp>
        <p:nvSpPr>
          <p:cNvPr id="22" name="Left-Right Arrow 21"/>
          <p:cNvSpPr/>
          <p:nvPr/>
        </p:nvSpPr>
        <p:spPr>
          <a:xfrm>
            <a:off x="7818120" y="3566160"/>
            <a:ext cx="457200" cy="365760"/>
          </a:xfrm>
          <a:prstGeom prst="left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9776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79EBE"/>
                </a:solidFill>
                <a:latin typeface="Microsoft YaHei"/>
              </a:rPr>
              <a:t>WSS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远程指令全链路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Mobile  --&gt;  Cloud  --&gt;  Desktop  --&gt;  Cloud  --&gt;  Mobile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2148840"/>
            <a:ext cx="365760" cy="36576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828800" cy="10058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手机输入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指令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用户输入文本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选择目标设备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04872" y="3136392"/>
            <a:ext cx="265176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2148840"/>
            <a:ext cx="365760" cy="36576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743200"/>
            <a:ext cx="1828800" cy="10058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云端验证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+ 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886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黑名单检查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写入命令记录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45152" y="3136392"/>
            <a:ext cx="265176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2148840"/>
            <a:ext cx="365760" cy="36576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43200"/>
            <a:ext cx="1828800" cy="10058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指令下发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到设备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86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WebSocket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推送到桌面端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85432" y="3136392"/>
            <a:ext cx="265176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0" y="2148840"/>
            <a:ext cx="365760" cy="36576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743200"/>
            <a:ext cx="1828800" cy="10058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桌面执行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886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child_process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执行并回报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25712" y="3136392"/>
            <a:ext cx="265176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2148840"/>
            <a:ext cx="365760" cy="36576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743200"/>
            <a:ext cx="1828800" cy="10058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结果推送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到手机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886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更新命令状态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推送到用户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303520"/>
            <a:ext cx="576072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37021"/>
                </a:solidFill>
                <a:latin typeface="Microsoft YaHei"/>
              </a:rPr>
              <a:t>端到端延迟 &lt; 3 秒  |  危险命令自动拦截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三大核心交互模式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28800"/>
            <a:ext cx="502920" cy="274320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0EDE8"/>
                </a:solidFill>
                <a:latin typeface="Microsoft YaHei"/>
              </a:rP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代理草稿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79EBE"/>
                </a:solidFill>
                <a:latin typeface="Microsoft YaHei"/>
              </a:rPr>
              <a:t>Draft &amp; Verify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28346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触发: 用户 @Bot 下达指令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行为: Bot 生成草稿，不自动发送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确认: 用户审核后点击发送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原则: Bot 只是笔，不是嘴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502920" cy="274320"/>
          </a:xfrm>
          <a:prstGeom prst="round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0EDE8"/>
                </a:solidFill>
                <a:latin typeface="Microsoft YaHei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耳语建议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79EBE"/>
                </a:solidFill>
                <a:latin typeface="Microsoft YaHei"/>
              </a:rPr>
              <a:t>The Whisper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697480"/>
            <a:ext cx="28346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触发: 收到好友消息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行为: 3 个建议气泡浮现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选择: 点击即填入，不点消失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时限: 0.8 秒内生成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0EDE8"/>
                </a:solidFill>
                <a:latin typeface="Microsoft YaHei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35640" y="1828800"/>
            <a:ext cx="502920" cy="274320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0EDE8"/>
                </a:solidFill>
                <a:latin typeface="Microsoft YaHei"/>
              </a:rP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EDE8"/>
                </a:solidFill>
                <a:latin typeface="Microsoft YaHei"/>
              </a:rPr>
              <a:t>预测执行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79EBE"/>
                </a:solidFill>
                <a:latin typeface="Microsoft YaHei"/>
              </a:rPr>
              <a:t>Predictive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697480"/>
            <a:ext cx="28346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92608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触发: 任务完成 / 错误出现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行为: 生成下一步行动按钮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分级: 安全 / 警告 / 危险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A9AB5"/>
                </a:solidFill>
                <a:latin typeface="Microsoft YaHei"/>
              </a:rPr>
              <a:t>•  执行: 用户点击才触发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Draft &amp; Verify 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代理草稿 -- 详细流程图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用户意图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309067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274320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Bot 生成 草稿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309067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79" y="274320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用户审核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599" y="309067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274320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批准 / 拒绝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309067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19" y="274320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发送 / 丢弃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用户说: "把报告发给张总"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Bot 连接电脑读取文件，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撰写回复文案 + 附件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用户查看草稿内容，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检查措辞和附件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确认无误 --&gt; 批准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有误修改 --&gt; 编辑后批准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不要了 --&gt; 拒绝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40233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批准 --&gt; 自动发送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9AB5"/>
                </a:solidFill>
                <a:latin typeface="Microsoft YaHei"/>
              </a:rPr>
              <a:t>拒绝 --&gt; 静默丢弃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The Whisper 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耳语建议 -- 详细流程图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22860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收到消息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2907792"/>
            <a:ext cx="50292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2560320"/>
            <a:ext cx="22860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Cloud Brain LLM 分析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15000" y="2907792"/>
            <a:ext cx="50292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560320"/>
            <a:ext cx="22860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生成 3 条 建议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41080" y="2907792"/>
            <a:ext cx="50292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2560320"/>
            <a:ext cx="22860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EDE8"/>
                </a:solidFill>
                <a:latin typeface="Microsoft YaHei"/>
              </a:rPr>
              <a:t>用户选择 或忽略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1247120" cy="4572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37021"/>
                </a:solidFill>
                <a:latin typeface="Microsoft YaHei"/>
              </a:rPr>
              <a:t>&lt; 800ms 内完成  |  超过 1000ms 则放弃推送，客户端不显示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1.  好友发消息 "今晚约饭吗?" --&gt; Cloud Brain 收到 message:new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2.  并行: 广播消息给会话成员 + 异步调用 LLM (DeepSeek, 低延迟模型)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3.  LLM 返回 3 条建议: [好的，几点?]  [不了，加班]  [看看再说]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4.  推送到用户客户端，建议气泡浮现在输入框上方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5.  用户点击气泡 --&gt; 填入输入框 --&gt; 可编辑后发送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Predictive Actions 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预测执行 -- 详细流程图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上下文事件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13432" y="290779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256032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LLM 分析 + 安全分级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45152" y="290779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56032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生成 行动卡片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76872" y="290779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59" y="256032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用户决策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08591" y="2907792"/>
            <a:ext cx="365760" cy="201168"/>
          </a:xfrm>
          <a:prstGeom prst="rightArrow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2560320"/>
            <a:ext cx="1828800" cy="9144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0EDE8"/>
                </a:solidFill>
                <a:latin typeface="Microsoft YaHei"/>
              </a:rPr>
              <a:t>执行 / 忽略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EDE8"/>
                </a:solidFill>
                <a:latin typeface="Microsoft YaHei"/>
              </a:rPr>
              <a:t>安全分级: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89120"/>
            <a:ext cx="365760" cy="27432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安全 -- 可直接执行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92040"/>
            <a:ext cx="365760" cy="2743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警告 -- 需用户确认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365760" cy="27432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危险 -- 强制二次确认 + 倒计时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数据模型概览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Prisma + PostgreSQL -- 18 Models / 5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34747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D4E6C"/>
                </a:solidFill>
                <a:latin typeface="Microsoft YaHei"/>
              </a:rPr>
              <a:t>用户域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46304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Friendship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FriendReq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UserBlock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566160"/>
            <a:ext cx="320040" cy="1905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1828800"/>
            <a:ext cx="2011680" cy="34747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759A"/>
                </a:solidFill>
                <a:latin typeface="Microsoft YaHei"/>
              </a:rPr>
              <a:t>群组域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423160"/>
            <a:ext cx="1463040" cy="127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GroupMember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GroupRole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566160"/>
            <a:ext cx="320040" cy="1905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1828800"/>
            <a:ext cx="2011680" cy="34747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7021"/>
                </a:solidFill>
                <a:latin typeface="Microsoft YaHei"/>
              </a:rPr>
              <a:t>会话域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2423160"/>
            <a:ext cx="1463040" cy="127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Converse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ConvMember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14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Attachment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566160"/>
            <a:ext cx="320040" cy="1905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52359" y="1828800"/>
            <a:ext cx="2011680" cy="34747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67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799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79EBE"/>
                </a:solidFill>
                <a:latin typeface="Microsoft YaHei"/>
              </a:rPr>
              <a:t>设备域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2423160"/>
            <a:ext cx="1463040" cy="12700"/>
          </a:xfrm>
          <a:prstGeom prst="rect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Command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39" y="3566160"/>
            <a:ext cx="320040" cy="19050"/>
          </a:xfrm>
          <a:prstGeom prst="rect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1828800"/>
            <a:ext cx="2011680" cy="34747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759A"/>
                </a:solidFill>
                <a:latin typeface="Microsoft YaHei"/>
              </a:rPr>
              <a:t>AI 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423160"/>
            <a:ext cx="1463040" cy="127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AiDraft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AiSuggestion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79EBE"/>
                </a:solidFill>
                <a:latin typeface="Microsoft YaHei"/>
              </a:rPr>
              <a:t>Group --&gt; Channel --&gt; Converse --&gt; Message  |  User --&gt; Device --&gt;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WebSocket 双通道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Socket.IO + Redis Adapter -- 双命名空间隔离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4759A"/>
                </a:solidFill>
                <a:latin typeface="Microsoft YaHei"/>
              </a:rPr>
              <a:t>/chat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B5"/>
                </a:solidFill>
                <a:latin typeface="Microsoft YaHei"/>
              </a:rPr>
              <a:t>社交通信命名空间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438912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message:new / updated / deleted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message:typing / read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converse:new / updated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friend:request / accepted / removed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group:updated / member:joined / left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presence:changed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ai:whisper / draft / predictive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30352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37021"/>
                </a:solidFill>
                <a:latin typeface="Microsoft YaHei"/>
              </a:rPr>
              <a:t>/device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B5"/>
                </a:solidFill>
                <a:latin typeface="Microsoft YaHei"/>
              </a:rPr>
              <a:t>设备控制命名空间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697480"/>
            <a:ext cx="4389120" cy="127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device:register / heartbeat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device:command:send / cancel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device:command:execute (--&gt;Desktop)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device:result:complete / progress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device:result:delivered (--&gt;Mobile)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device:status:changed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功能矩阵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Sprint 规划 -- 分阶段交付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7021"/>
                </a:solidFill>
                <a:latin typeface="Microsoft YaHei"/>
              </a:rP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B5"/>
                </a:solidFill>
                <a:latin typeface="Microsoft YaHei"/>
              </a:rPr>
              <a:t>远程控制核心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2834640" cy="127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JWT RS256 认证 (注册/登录/刷新)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设备管理 (注册/心跳/状态)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命令发送 + Shell 执行 + 结果回报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黑名单命令过滤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Mobile PoC + Desktop PoC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4759A"/>
                </a:solidFill>
                <a:latin typeface="Microsoft YaHei"/>
              </a:rPr>
              <a:t>Sprint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B5"/>
                </a:solidFill>
                <a:latin typeface="Microsoft YaHei"/>
              </a:rPr>
              <a:t>社交功能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560320"/>
            <a:ext cx="2834640" cy="127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好友系统 (请求/接受/删除/拉黑)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群组管理 (创建/邀请/频道)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消息系统 (发送/撤回/已读)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会话列表 + 未读计数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文件上传 (S3)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383280" cy="457200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67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79EBE"/>
                </a:solidFill>
                <a:latin typeface="Microsoft YaHei"/>
              </a:rPr>
              <a:t>Sprint 3+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AB5"/>
                </a:solidFill>
                <a:latin typeface="Microsoft YaHei"/>
              </a:rPr>
              <a:t>AI 智能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560320"/>
            <a:ext cx="2834640" cy="12700"/>
          </a:xfrm>
          <a:prstGeom prst="rect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LLM 多模型路由 (DeepSeek / Kimi)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Draft &amp; Verify 状态机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Whisper 建议 (&lt;800ms)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Predictive Actions + 安全分级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•  插件系统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模块依赖关系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NestJS 后端 -- 模块层次结构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737360"/>
            <a:ext cx="301752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37021"/>
                </a:solidFill>
                <a:latin typeface="Microsoft YaHei"/>
              </a:rPr>
              <a:t>app.module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2377440"/>
            <a:ext cx="19050" cy="3657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2743200"/>
            <a:ext cx="7772400" cy="1905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017520" cy="5486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4E6C"/>
                </a:solidFill>
                <a:latin typeface="Microsoft YaHei"/>
              </a:rPr>
              <a:t>基础模块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3474720"/>
            <a:ext cx="19050" cy="27432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88620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PrismaModule (G)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AuthModule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9204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UsersModule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9496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ConfigModule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377440"/>
            <a:ext cx="19050" cy="3657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2743200"/>
            <a:ext cx="7772400" cy="1905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017520" cy="5486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4759A"/>
                </a:solidFill>
                <a:latin typeface="Microsoft YaHei"/>
              </a:rPr>
              <a:t>社交模块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474720"/>
            <a:ext cx="19050" cy="27432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388620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FriendsModule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38912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GroupsModule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89204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ConversesModule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539496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MessagesModule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377440"/>
            <a:ext cx="19050" cy="3657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0" y="2743200"/>
            <a:ext cx="7772400" cy="1905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926080"/>
            <a:ext cx="3017520" cy="54864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37021"/>
                </a:solidFill>
                <a:latin typeface="Microsoft YaHei"/>
              </a:rPr>
              <a:t>设备 +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474720"/>
            <a:ext cx="19050" cy="27432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388620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DevicesModule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438912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AiModule (S2+)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892040"/>
            <a:ext cx="2651760" cy="4114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8A9AB5"/>
                </a:solidFill>
                <a:latin typeface="Microsoft YaHei"/>
              </a:rPr>
              <a:t>GatewayModule (G)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7021"/>
                </a:solidFill>
                <a:latin typeface="Microsoft YaHei"/>
              </a:rPr>
              <a:t>GatewayModule (@Global)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Microsoft YaHei"/>
              </a:rPr>
              <a:t>•  ChatGateway (/chat)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Microsoft YaHei"/>
              </a:rPr>
              <a:t>•  DeviceGateway (/device)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AB5"/>
                </a:solidFill>
                <a:latin typeface="Microsoft YaHei"/>
              </a:rPr>
              <a:t>•  BroadcastService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开发里程碑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Sprint 1 -- 5 个检查点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10058400" cy="254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3035808"/>
            <a:ext cx="512064" cy="512064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0EDE8"/>
                </a:solidFill>
                <a:latin typeface="Microsoft YaHe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Server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可运行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注册/登录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JWT 可用</a:t>
            </a:r>
          </a:p>
        </p:txBody>
      </p:sp>
      <p:sp>
        <p:nvSpPr>
          <p:cNvPr id="9" name="Oval 8"/>
          <p:cNvSpPr/>
          <p:nvPr/>
        </p:nvSpPr>
        <p:spPr>
          <a:xfrm>
            <a:off x="3355848" y="3035808"/>
            <a:ext cx="512064" cy="512064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0EDE8"/>
                </a:solidFill>
                <a:latin typeface="Microsoft YaHei"/>
              </a:rPr>
              <a:t>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WS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可连接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8404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JWT 认证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/device 连通</a:t>
            </a:r>
          </a:p>
        </p:txBody>
      </p:sp>
      <p:sp>
        <p:nvSpPr>
          <p:cNvPr id="12" name="Oval 11"/>
          <p:cNvSpPr/>
          <p:nvPr/>
        </p:nvSpPr>
        <p:spPr>
          <a:xfrm>
            <a:off x="5870448" y="3035808"/>
            <a:ext cx="512064" cy="512064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0EDE8"/>
                </a:solidFill>
                <a:latin typeface="Microsoft YaHei"/>
              </a:rP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桌面端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可执行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8404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接收命令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Shell 执行</a:t>
            </a:r>
          </a:p>
        </p:txBody>
      </p:sp>
      <p:sp>
        <p:nvSpPr>
          <p:cNvPr id="15" name="Oval 14"/>
          <p:cNvSpPr/>
          <p:nvPr/>
        </p:nvSpPr>
        <p:spPr>
          <a:xfrm>
            <a:off x="8385048" y="3035808"/>
            <a:ext cx="512064" cy="512064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0EDE8"/>
                </a:solidFill>
                <a:latin typeface="Microsoft YaHei"/>
              </a:rPr>
              <a:t>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手机端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可操控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8404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发送命令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查看结果</a:t>
            </a:r>
          </a:p>
        </p:txBody>
      </p:sp>
      <p:sp>
        <p:nvSpPr>
          <p:cNvPr id="18" name="Oval 17"/>
          <p:cNvSpPr/>
          <p:nvPr/>
        </p:nvSpPr>
        <p:spPr>
          <a:xfrm>
            <a:off x="10899648" y="3035808"/>
            <a:ext cx="512064" cy="512064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0EDE8"/>
                </a:solidFill>
                <a:latin typeface="Microsoft YaHei"/>
              </a:rP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全链路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0EDE8"/>
                </a:solidFill>
                <a:latin typeface="Microsoft YaHei"/>
              </a:rPr>
              <a:t>打通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8404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端到端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&lt; 3 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303520"/>
            <a:ext cx="7589520" cy="64008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37021"/>
                </a:solidFill>
                <a:latin typeface="Microsoft YaHei"/>
              </a:rPr>
              <a:t>M5 验收: 手机发指令 --&gt; 云端转发 --&gt; 桌面执行 --&gt; 结果返回 &lt; 3 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DE8"/>
                </a:solidFill>
                <a:latin typeface="Microsoft YaHei"/>
              </a:rPr>
              <a:t>房间策略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6459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AB5"/>
                </a:solidFill>
                <a:latin typeface="Microsoft YaHei"/>
              </a:rPr>
              <a:t>WebSocket 房间命名与路由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7315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7021"/>
                </a:solidFill>
                <a:latin typeface="Microsoft YaHei"/>
              </a:rPr>
              <a:t>u-{userId}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74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Microsoft YaHei"/>
              </a:rPr>
              <a:t>用户房间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212848"/>
            <a:ext cx="2286000" cy="2743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79EBE"/>
                </a:solidFill>
                <a:latin typeface="Microsoft YaHei"/>
              </a:rPr>
              <a:t>/chat + /device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65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个人事件: 好友请求、设备状态、通知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011680" cy="7315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7021"/>
                </a:solidFill>
                <a:latin typeface="Microsoft YaHei"/>
              </a:rPr>
              <a:t>{converseId}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Microsoft YaHei"/>
              </a:rPr>
              <a:t>会话房间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355848"/>
            <a:ext cx="2286000" cy="2743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79EBE"/>
                </a:solidFill>
                <a:latin typeface="Microsoft YaHei"/>
              </a:rPr>
              <a:t>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消息事件: 新消息、撤回、已读、输入中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2011680" cy="7315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7021"/>
                </a:solidFill>
                <a:latin typeface="Microsoft YaHei"/>
              </a:rPr>
              <a:t>g-{groupId}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Microsoft YaHei"/>
              </a:rPr>
              <a:t>群组房间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498848"/>
            <a:ext cx="2286000" cy="2743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79EBE"/>
                </a:solidFill>
                <a:latin typeface="Microsoft YaHei"/>
              </a:rPr>
              <a:t>/chat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群组级事件: 成员变更、频道增删改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2011680" cy="7315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7021"/>
                </a:solidFill>
                <a:latin typeface="Microsoft YaHei"/>
              </a:rPr>
              <a:t>d-{deviceId}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Microsoft YaHei"/>
              </a:rPr>
              <a:t>设备房间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5641848"/>
            <a:ext cx="2286000" cy="274320"/>
          </a:xfrm>
          <a:prstGeom prst="round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79EBE"/>
                </a:solidFill>
                <a:latin typeface="Microsoft YaHei"/>
              </a:rPr>
              <a:t>/device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394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B5"/>
                </a:solidFill>
                <a:latin typeface="Microsoft YaHei"/>
              </a:rPr>
              <a:t>设备命令: 发送到特定设备执行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Microsoft YaHei"/>
              </a:rPr>
              <a:t>房间生命周期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连接 --&gt; 自动加入 u-{userId}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打开会话 --&gt; 加入 {converseId}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9AB5"/>
                </a:solidFill>
                <a:latin typeface="Microsoft YaHei"/>
              </a:rPr>
              <a:t>断开连接 --&gt; 自动移出所有房间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